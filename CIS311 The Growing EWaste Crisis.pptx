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F31BBD1-B8E4-4F74-AFFE-81B24ABD0003}" v="55" dt="2026-04-05T16:52:23.10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008" autoAdjust="0"/>
    <p:restoredTop sz="94660"/>
  </p:normalViewPr>
  <p:slideViewPr>
    <p:cSldViewPr snapToGrid="0">
      <p:cViewPr varScale="1">
        <p:scale>
          <a:sx n="105" d="100"/>
          <a:sy n="105" d="100"/>
        </p:scale>
        <p:origin x="60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oherty, Siobhan" userId="92628334-393d-4cc5-985b-95aa41cb6010" providerId="ADAL" clId="{6D53572D-B827-4B53-8132-DE14F894C04F}"/>
    <pc:docChg chg="custSel modSld">
      <pc:chgData name="Doherty, Siobhan" userId="92628334-393d-4cc5-985b-95aa41cb6010" providerId="ADAL" clId="{6D53572D-B827-4B53-8132-DE14F894C04F}" dt="2026-04-05T16:52:23.614" v="227" actId="20577"/>
      <pc:docMkLst>
        <pc:docMk/>
      </pc:docMkLst>
      <pc:sldChg chg="modSp mod setBg">
        <pc:chgData name="Doherty, Siobhan" userId="92628334-393d-4cc5-985b-95aa41cb6010" providerId="ADAL" clId="{6D53572D-B827-4B53-8132-DE14F894C04F}" dt="2026-04-05T16:14:23.577" v="145"/>
        <pc:sldMkLst>
          <pc:docMk/>
          <pc:sldMk cId="3861806863" sldId="256"/>
        </pc:sldMkLst>
        <pc:spChg chg="mod">
          <ac:chgData name="Doherty, Siobhan" userId="92628334-393d-4cc5-985b-95aa41cb6010" providerId="ADAL" clId="{6D53572D-B827-4B53-8132-DE14F894C04F}" dt="2026-04-05T16:11:01.764" v="143" actId="1076"/>
          <ac:spMkLst>
            <pc:docMk/>
            <pc:sldMk cId="3861806863" sldId="256"/>
            <ac:spMk id="2" creationId="{8069ACCF-1115-9DE3-A375-1754B6CA3FA4}"/>
          </ac:spMkLst>
        </pc:spChg>
      </pc:sldChg>
      <pc:sldChg chg="modSp mod setBg modNotesTx">
        <pc:chgData name="Doherty, Siobhan" userId="92628334-393d-4cc5-985b-95aa41cb6010" providerId="ADAL" clId="{6D53572D-B827-4B53-8132-DE14F894C04F}" dt="2026-04-05T16:51:00.676" v="219" actId="20577"/>
        <pc:sldMkLst>
          <pc:docMk/>
          <pc:sldMk cId="1985981644" sldId="257"/>
        </pc:sldMkLst>
        <pc:spChg chg="mod">
          <ac:chgData name="Doherty, Siobhan" userId="92628334-393d-4cc5-985b-95aa41cb6010" providerId="ADAL" clId="{6D53572D-B827-4B53-8132-DE14F894C04F}" dt="2026-04-05T16:45:18.583" v="207" actId="20577"/>
          <ac:spMkLst>
            <pc:docMk/>
            <pc:sldMk cId="1985981644" sldId="257"/>
            <ac:spMk id="2" creationId="{ED4734A2-B5C9-00A9-5A28-93DF3B78764B}"/>
          </ac:spMkLst>
        </pc:spChg>
      </pc:sldChg>
      <pc:sldChg chg="modSp mod setBg modNotesTx">
        <pc:chgData name="Doherty, Siobhan" userId="92628334-393d-4cc5-985b-95aa41cb6010" providerId="ADAL" clId="{6D53572D-B827-4B53-8132-DE14F894C04F}" dt="2026-04-05T16:51:33.444" v="221" actId="20577"/>
        <pc:sldMkLst>
          <pc:docMk/>
          <pc:sldMk cId="2109721943" sldId="258"/>
        </pc:sldMkLst>
        <pc:spChg chg="mod">
          <ac:chgData name="Doherty, Siobhan" userId="92628334-393d-4cc5-985b-95aa41cb6010" providerId="ADAL" clId="{6D53572D-B827-4B53-8132-DE14F894C04F}" dt="2026-04-05T16:45:24.368" v="209" actId="20577"/>
          <ac:spMkLst>
            <pc:docMk/>
            <pc:sldMk cId="2109721943" sldId="258"/>
            <ac:spMk id="2" creationId="{D48C2F1D-5760-CDDE-04F9-637503614F1A}"/>
          </ac:spMkLst>
        </pc:spChg>
      </pc:sldChg>
      <pc:sldChg chg="modSp mod setBg modNotesTx">
        <pc:chgData name="Doherty, Siobhan" userId="92628334-393d-4cc5-985b-95aa41cb6010" providerId="ADAL" clId="{6D53572D-B827-4B53-8132-DE14F894C04F}" dt="2026-04-05T16:51:55.900" v="223" actId="20577"/>
        <pc:sldMkLst>
          <pc:docMk/>
          <pc:sldMk cId="2214057104" sldId="259"/>
        </pc:sldMkLst>
        <pc:spChg chg="mod">
          <ac:chgData name="Doherty, Siobhan" userId="92628334-393d-4cc5-985b-95aa41cb6010" providerId="ADAL" clId="{6D53572D-B827-4B53-8132-DE14F894C04F}" dt="2026-04-05T16:45:29.042" v="211" actId="20577"/>
          <ac:spMkLst>
            <pc:docMk/>
            <pc:sldMk cId="2214057104" sldId="259"/>
            <ac:spMk id="2" creationId="{929C3965-9A5B-AD26-827E-813FFB48CF44}"/>
          </ac:spMkLst>
        </pc:spChg>
      </pc:sldChg>
      <pc:sldChg chg="modSp mod modNotesTx">
        <pc:chgData name="Doherty, Siobhan" userId="92628334-393d-4cc5-985b-95aa41cb6010" providerId="ADAL" clId="{6D53572D-B827-4B53-8132-DE14F894C04F}" dt="2026-04-05T16:52:08.646" v="225" actId="20577"/>
        <pc:sldMkLst>
          <pc:docMk/>
          <pc:sldMk cId="1401026237" sldId="260"/>
        </pc:sldMkLst>
        <pc:spChg chg="mod">
          <ac:chgData name="Doherty, Siobhan" userId="92628334-393d-4cc5-985b-95aa41cb6010" providerId="ADAL" clId="{6D53572D-B827-4B53-8132-DE14F894C04F}" dt="2026-04-05T16:45:36.029" v="213" actId="20577"/>
          <ac:spMkLst>
            <pc:docMk/>
            <pc:sldMk cId="1401026237" sldId="260"/>
            <ac:spMk id="2" creationId="{ADA42278-0C13-E2E7-F4AD-936C438107EF}"/>
          </ac:spMkLst>
        </pc:spChg>
        <pc:spChg chg="mod">
          <ac:chgData name="Doherty, Siobhan" userId="92628334-393d-4cc5-985b-95aa41cb6010" providerId="ADAL" clId="{6D53572D-B827-4B53-8132-DE14F894C04F}" dt="2026-04-05T16:35:15.431" v="186" actId="1076"/>
          <ac:spMkLst>
            <pc:docMk/>
            <pc:sldMk cId="1401026237" sldId="260"/>
            <ac:spMk id="3" creationId="{775643A2-4893-90DF-5B3B-3E9FE22E11A7}"/>
          </ac:spMkLst>
        </pc:spChg>
      </pc:sldChg>
      <pc:sldChg chg="modSp mod setBg modNotesTx">
        <pc:chgData name="Doherty, Siobhan" userId="92628334-393d-4cc5-985b-95aa41cb6010" providerId="ADAL" clId="{6D53572D-B827-4B53-8132-DE14F894C04F}" dt="2026-04-05T16:52:23.614" v="227" actId="20577"/>
        <pc:sldMkLst>
          <pc:docMk/>
          <pc:sldMk cId="2318017309" sldId="261"/>
        </pc:sldMkLst>
        <pc:spChg chg="mod">
          <ac:chgData name="Doherty, Siobhan" userId="92628334-393d-4cc5-985b-95aa41cb6010" providerId="ADAL" clId="{6D53572D-B827-4B53-8132-DE14F894C04F}" dt="2026-04-05T16:45:41.439" v="215" actId="20577"/>
          <ac:spMkLst>
            <pc:docMk/>
            <pc:sldMk cId="2318017309" sldId="261"/>
            <ac:spMk id="2" creationId="{E20E330C-EB33-12DB-E01F-9AB543338162}"/>
          </ac:spMkLst>
        </pc:spChg>
      </pc:sldChg>
      <pc:sldChg chg="modSp mod setBg">
        <pc:chgData name="Doherty, Siobhan" userId="92628334-393d-4cc5-985b-95aa41cb6010" providerId="ADAL" clId="{6D53572D-B827-4B53-8132-DE14F894C04F}" dt="2026-04-05T16:45:45.790" v="217" actId="20577"/>
        <pc:sldMkLst>
          <pc:docMk/>
          <pc:sldMk cId="228779564" sldId="262"/>
        </pc:sldMkLst>
        <pc:spChg chg="mod">
          <ac:chgData name="Doherty, Siobhan" userId="92628334-393d-4cc5-985b-95aa41cb6010" providerId="ADAL" clId="{6D53572D-B827-4B53-8132-DE14F894C04F}" dt="2026-04-05T16:45:45.790" v="217" actId="20577"/>
          <ac:spMkLst>
            <pc:docMk/>
            <pc:sldMk cId="228779564" sldId="262"/>
            <ac:spMk id="2" creationId="{77BA7268-3393-FA42-8911-85FF449C6539}"/>
          </ac:spMkLst>
        </pc:spChg>
        <pc:spChg chg="mod">
          <ac:chgData name="Doherty, Siobhan" userId="92628334-393d-4cc5-985b-95aa41cb6010" providerId="ADAL" clId="{6D53572D-B827-4B53-8132-DE14F894C04F}" dt="2026-04-05T16:41:52.902" v="197" actId="1076"/>
          <ac:spMkLst>
            <pc:docMk/>
            <pc:sldMk cId="228779564" sldId="262"/>
            <ac:spMk id="5" creationId="{D099DDE2-1A3B-1865-A7BC-08676F85647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37289D1-53E9-4135-B0B9-08838DEF3BCC}" type="datetimeFigureOut">
              <a:rPr lang="en-US" smtClean="0"/>
              <a:t>4/5/2026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D23BB6D-C652-42F8-A7F8-5246D994B486}" type="slidenum">
              <a:rPr lang="en-US" smtClean="0"/>
              <a:t>‹#›</a:t>
            </a:fld>
            <a:endParaRPr lang="en-US"/>
          </a:p>
        </p:txBody>
      </p:sp>
    </p:spTree>
    <p:extLst>
      <p:ext uri="{BB962C8B-B14F-4D97-AF65-F5344CB8AC3E}">
        <p14:creationId xmlns:p14="http://schemas.microsoft.com/office/powerpoint/2010/main" val="32450481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E‑waste is old electronics like phones and computers that people throw away. Because devices are replaced so quickly, e‑waste is growing and can seriously harm the environment if not handled properly (Widmer et al., 2005).</a:t>
            </a:r>
            <a:br>
              <a:rPr lang="en-US" sz="1200" b="0" i="0" kern="1200" dirty="0">
                <a:solidFill>
                  <a:schemeClr val="tx1"/>
                </a:solidFill>
                <a:effectLst/>
                <a:latin typeface="+mn-lt"/>
                <a:ea typeface="+mn-ea"/>
                <a:cs typeface="+mn-cs"/>
              </a:rPr>
            </a:b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SJB Studio. (n.d.). </a:t>
            </a:r>
            <a:r>
              <a:rPr lang="en-US" sz="1200" b="0" i="1" kern="1200" dirty="0">
                <a:solidFill>
                  <a:schemeClr val="tx1"/>
                </a:solidFill>
                <a:effectLst/>
                <a:latin typeface="+mn-lt"/>
                <a:ea typeface="+mn-ea"/>
                <a:cs typeface="+mn-cs"/>
              </a:rPr>
              <a:t>Pile of discarded obsolete electronic devices (e‑waste) on transparent background</a:t>
            </a:r>
            <a:r>
              <a:rPr lang="en-US" sz="1200" b="0" i="0" kern="1200" dirty="0">
                <a:solidFill>
                  <a:schemeClr val="tx1"/>
                </a:solidFill>
                <a:effectLst/>
                <a:latin typeface="+mn-lt"/>
                <a:ea typeface="+mn-ea"/>
                <a:cs typeface="+mn-cs"/>
              </a:rPr>
              <a:t> [Stock photograph]. Adobe Stock. https://stock.adobe.com/images/pile-of-discarded-obsolete-electronic-devices-e-waste-on-transparent-background/1453878762</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00" dirty="0">
                <a:effectLst/>
                <a:latin typeface="Palatino Linotype" panose="02040502050505030304" pitchFamily="18" charset="0"/>
                <a:ea typeface="Aptos" panose="020B0004020202020204" pitchFamily="34" charset="0"/>
                <a:cs typeface="Times New Roman" panose="02020603050405020304" pitchFamily="18" charset="0"/>
              </a:rPr>
              <a:t>(Widmer et al., 2005)</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AD23BB6D-C652-42F8-A7F8-5246D994B486}" type="slidenum">
              <a:rPr lang="en-US" smtClean="0"/>
              <a:t>2</a:t>
            </a:fld>
            <a:endParaRPr lang="en-US"/>
          </a:p>
        </p:txBody>
      </p:sp>
    </p:spTree>
    <p:extLst>
      <p:ext uri="{BB962C8B-B14F-4D97-AF65-F5344CB8AC3E}">
        <p14:creationId xmlns:p14="http://schemas.microsoft.com/office/powerpoint/2010/main" val="38954228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Palatino Linotype" panose="02040502050505030304" pitchFamily="18" charset="0"/>
              </a:rPr>
              <a:t>Improper e‑waste disposal releases toxic chemicals into the air, soil, and water. This can cause serious health problems, especially for vulnerable communities (</a:t>
            </a:r>
            <a:r>
              <a:rPr lang="en-US" sz="1200" dirty="0" err="1">
                <a:latin typeface="Palatino Linotype" panose="02040502050505030304" pitchFamily="18" charset="0"/>
              </a:rPr>
              <a:t>Andeobu</a:t>
            </a:r>
            <a:r>
              <a:rPr lang="en-US" sz="1200" dirty="0">
                <a:latin typeface="Palatino Linotype" panose="02040502050505030304" pitchFamily="18" charset="0"/>
              </a:rPr>
              <a:t> et al., 2023).</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latin typeface="Palatino Linotype" panose="0204050205050503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Palatino Linotype" panose="02040502050505030304" pitchFamily="18" charset="0"/>
              </a:rPr>
              <a:t>(</a:t>
            </a:r>
            <a:r>
              <a:rPr lang="en-US" sz="1200" dirty="0" err="1">
                <a:latin typeface="Palatino Linotype" panose="02040502050505030304" pitchFamily="18" charset="0"/>
              </a:rPr>
              <a:t>Andeobu</a:t>
            </a:r>
            <a:r>
              <a:rPr lang="en-US" sz="1200" dirty="0">
                <a:latin typeface="Palatino Linotype" panose="02040502050505030304" pitchFamily="18" charset="0"/>
              </a:rPr>
              <a:t> et al., 2023)</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latin typeface="Palatino Linotype" panose="0204050205050503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Palatino Linotype" panose="02040502050505030304" pitchFamily="18" charset="0"/>
              </a:rPr>
              <a:t>Electronic waste (e‑waste) recycling concept [Stock photograph]. (n.d.). Adobe Stock. https://as2.ftcdn.net/v2/jpg/11/24/54/43/1000_F_1124544343_huPSVu1pMgxaHqxrgRiKZyqK6Kljbtwy.jpg</a:t>
            </a:r>
          </a:p>
          <a:p>
            <a:endParaRPr lang="en-US" dirty="0"/>
          </a:p>
        </p:txBody>
      </p:sp>
      <p:sp>
        <p:nvSpPr>
          <p:cNvPr id="4" name="Slide Number Placeholder 3"/>
          <p:cNvSpPr>
            <a:spLocks noGrp="1"/>
          </p:cNvSpPr>
          <p:nvPr>
            <p:ph type="sldNum" sz="quarter" idx="5"/>
          </p:nvPr>
        </p:nvSpPr>
        <p:spPr/>
        <p:txBody>
          <a:bodyPr/>
          <a:lstStyle/>
          <a:p>
            <a:fld id="{AD23BB6D-C652-42F8-A7F8-5246D994B486}" type="slidenum">
              <a:rPr lang="en-US" smtClean="0"/>
              <a:t>3</a:t>
            </a:fld>
            <a:endParaRPr lang="en-US"/>
          </a:p>
        </p:txBody>
      </p:sp>
    </p:spTree>
    <p:extLst>
      <p:ext uri="{BB962C8B-B14F-4D97-AF65-F5344CB8AC3E}">
        <p14:creationId xmlns:p14="http://schemas.microsoft.com/office/powerpoint/2010/main" val="33878497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Palatino Linotype" panose="02040502050505030304" pitchFamily="18" charset="0"/>
              </a:rPr>
              <a:t>Manufacturers are responsible for managing e‑waste through Extended Producer Responsibility policies. These policies help improve recycling and reduce waste through better product design (Leclerc &amp; Badami, 2023).</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latin typeface="Palatino Linotype" panose="0204050205050503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Palatino Linotype" panose="02040502050505030304" pitchFamily="18" charset="0"/>
              </a:rPr>
              <a:t>(Leclerc &amp; Badami, 2023)</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latin typeface="Palatino Linotype" panose="0204050205050503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Palatino Linotype" panose="02040502050505030304" pitchFamily="18" charset="0"/>
              </a:rPr>
              <a:t>Pile of discarded obsolete electronic devices (e‑waste) on transparent background. (n.d.). [Photograph]. Adobe Stock. https://as1.ftcdn.net/v2/jpg/17/73/79/72/1000_F_1773797261_AmVPoL29crbZnDvjwE9raA9tDZgXQlJi.jpg</a:t>
            </a:r>
          </a:p>
          <a:p>
            <a:endParaRPr lang="en-US" dirty="0"/>
          </a:p>
        </p:txBody>
      </p:sp>
      <p:sp>
        <p:nvSpPr>
          <p:cNvPr id="4" name="Slide Number Placeholder 3"/>
          <p:cNvSpPr>
            <a:spLocks noGrp="1"/>
          </p:cNvSpPr>
          <p:nvPr>
            <p:ph type="sldNum" sz="quarter" idx="5"/>
          </p:nvPr>
        </p:nvSpPr>
        <p:spPr/>
        <p:txBody>
          <a:bodyPr/>
          <a:lstStyle/>
          <a:p>
            <a:fld id="{AD23BB6D-C652-42F8-A7F8-5246D994B486}" type="slidenum">
              <a:rPr lang="en-US" smtClean="0"/>
              <a:t>4</a:t>
            </a:fld>
            <a:endParaRPr lang="en-US"/>
          </a:p>
        </p:txBody>
      </p:sp>
    </p:spTree>
    <p:extLst>
      <p:ext uri="{BB962C8B-B14F-4D97-AF65-F5344CB8AC3E}">
        <p14:creationId xmlns:p14="http://schemas.microsoft.com/office/powerpoint/2010/main" val="23676340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Palatino Linotype" panose="02040502050505030304" pitchFamily="18" charset="0"/>
              </a:rPr>
              <a:t>Consumers can reduce e‑waste by recycling electronics, repairing devices, and buying less. These actions help extend product life and protect the environment (Islam et al., 2021).</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latin typeface="Palatino Linotype" panose="0204050205050503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Palatino Linotype" panose="02040502050505030304" pitchFamily="18" charset="0"/>
              </a:rPr>
              <a:t>Electronic waste (e‑waste) recycling concept. (n.d.). [Photograph]. Adobe Stock. https://t4.ftcdn.net/jpg/19/41/67/49/240_F_1941674938_YIpXRjlPhN3oc1czwubqzBuRDaLV5QbK.jpg</a:t>
            </a:r>
          </a:p>
          <a:p>
            <a:pPr marL="0" marR="0" lvl="0" indent="0" algn="l" defTabSz="914400" rtl="0" eaLnBrk="1" fontAlgn="auto" latinLnBrk="0" hangingPunct="1">
              <a:lnSpc>
                <a:spcPct val="100000"/>
              </a:lnSpc>
              <a:spcBef>
                <a:spcPts val="0"/>
              </a:spcBef>
              <a:spcAft>
                <a:spcPts val="0"/>
              </a:spcAft>
              <a:buClrTx/>
              <a:buSzTx/>
              <a:buFontTx/>
              <a:buNone/>
              <a:tabLst/>
              <a:defRPr/>
            </a:pPr>
            <a:br>
              <a:rPr lang="en-US" sz="1200" dirty="0">
                <a:latin typeface="Palatino Linotype" panose="02040502050505030304" pitchFamily="18" charset="0"/>
              </a:rPr>
            </a:br>
            <a:r>
              <a:rPr lang="en-US" sz="1200" dirty="0">
                <a:latin typeface="Palatino Linotype" panose="02040502050505030304" pitchFamily="18" charset="0"/>
              </a:rPr>
              <a:t>(Islam et al., 2021)</a:t>
            </a:r>
          </a:p>
          <a:p>
            <a:endParaRPr lang="en-US" dirty="0"/>
          </a:p>
        </p:txBody>
      </p:sp>
      <p:sp>
        <p:nvSpPr>
          <p:cNvPr id="4" name="Slide Number Placeholder 3"/>
          <p:cNvSpPr>
            <a:spLocks noGrp="1"/>
          </p:cNvSpPr>
          <p:nvPr>
            <p:ph type="sldNum" sz="quarter" idx="5"/>
          </p:nvPr>
        </p:nvSpPr>
        <p:spPr/>
        <p:txBody>
          <a:bodyPr/>
          <a:lstStyle/>
          <a:p>
            <a:fld id="{AD23BB6D-C652-42F8-A7F8-5246D994B486}" type="slidenum">
              <a:rPr lang="en-US" smtClean="0"/>
              <a:t>5</a:t>
            </a:fld>
            <a:endParaRPr lang="en-US"/>
          </a:p>
        </p:txBody>
      </p:sp>
    </p:spTree>
    <p:extLst>
      <p:ext uri="{BB962C8B-B14F-4D97-AF65-F5344CB8AC3E}">
        <p14:creationId xmlns:p14="http://schemas.microsoft.com/office/powerpoint/2010/main" val="13823685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Palatino Linotype" panose="02040502050505030304" pitchFamily="18" charset="0"/>
              </a:rPr>
              <a:t>Consumers can push companies to be more sustainable through education, policies, and responsible purchasing. Working together helps reduce environmental harm and supports environmental justice (</a:t>
            </a:r>
            <a:r>
              <a:rPr lang="en-US" sz="1200" dirty="0" err="1">
                <a:latin typeface="Palatino Linotype" panose="02040502050505030304" pitchFamily="18" charset="0"/>
              </a:rPr>
              <a:t>Ogunseitan</a:t>
            </a:r>
            <a:r>
              <a:rPr lang="en-US" sz="1200" dirty="0">
                <a:latin typeface="Palatino Linotype" panose="02040502050505030304" pitchFamily="18" charset="0"/>
              </a:rPr>
              <a:t>, 2023).</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latin typeface="Palatino Linotype" panose="0204050205050503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Palatino Linotype" panose="02040502050505030304" pitchFamily="18" charset="0"/>
              </a:rPr>
              <a:t>Electronic waste (e‑waste) recycling concept. (n.d.). [Photograph]. Adobe Stock. https://as1.ftcdn.net/v2/jpg/18/44/09/24/1000_F_1844092424_DTOcqyyA0lFp8fkxM01iN5tmEle6KYVA.jpg</a:t>
            </a:r>
          </a:p>
          <a:p>
            <a:pPr marL="0" marR="0" lvl="0" indent="0" algn="l" defTabSz="914400" rtl="0" eaLnBrk="1" fontAlgn="auto" latinLnBrk="0" hangingPunct="1">
              <a:lnSpc>
                <a:spcPct val="100000"/>
              </a:lnSpc>
              <a:spcBef>
                <a:spcPts val="0"/>
              </a:spcBef>
              <a:spcAft>
                <a:spcPts val="0"/>
              </a:spcAft>
              <a:buClrTx/>
              <a:buSzTx/>
              <a:buFontTx/>
              <a:buNone/>
              <a:tabLst/>
              <a:defRPr/>
            </a:pPr>
            <a:br>
              <a:rPr lang="en-US" sz="1200" dirty="0">
                <a:latin typeface="Palatino Linotype" panose="02040502050505030304" pitchFamily="18" charset="0"/>
              </a:rPr>
            </a:br>
            <a:r>
              <a:rPr lang="en-US" sz="1200" dirty="0">
                <a:latin typeface="Palatino Linotype" panose="02040502050505030304" pitchFamily="18" charset="0"/>
              </a:rPr>
              <a:t>(</a:t>
            </a:r>
            <a:r>
              <a:rPr lang="en-US" sz="1200" dirty="0" err="1">
                <a:latin typeface="Palatino Linotype" panose="02040502050505030304" pitchFamily="18" charset="0"/>
              </a:rPr>
              <a:t>Ogunseitan</a:t>
            </a:r>
            <a:r>
              <a:rPr lang="en-US" sz="1200" dirty="0">
                <a:latin typeface="Palatino Linotype" panose="02040502050505030304" pitchFamily="18" charset="0"/>
              </a:rPr>
              <a:t>, 2023)</a:t>
            </a:r>
          </a:p>
          <a:p>
            <a:endParaRPr lang="en-US" dirty="0"/>
          </a:p>
        </p:txBody>
      </p:sp>
      <p:sp>
        <p:nvSpPr>
          <p:cNvPr id="4" name="Slide Number Placeholder 3"/>
          <p:cNvSpPr>
            <a:spLocks noGrp="1"/>
          </p:cNvSpPr>
          <p:nvPr>
            <p:ph type="sldNum" sz="quarter" idx="5"/>
          </p:nvPr>
        </p:nvSpPr>
        <p:spPr/>
        <p:txBody>
          <a:bodyPr/>
          <a:lstStyle/>
          <a:p>
            <a:fld id="{AD23BB6D-C652-42F8-A7F8-5246D994B486}" type="slidenum">
              <a:rPr lang="en-US" smtClean="0"/>
              <a:t>6</a:t>
            </a:fld>
            <a:endParaRPr lang="en-US"/>
          </a:p>
        </p:txBody>
      </p:sp>
    </p:spTree>
    <p:extLst>
      <p:ext uri="{BB962C8B-B14F-4D97-AF65-F5344CB8AC3E}">
        <p14:creationId xmlns:p14="http://schemas.microsoft.com/office/powerpoint/2010/main" val="28379117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0E3E2F-AB71-F201-020A-0048A3A0B09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D05E3E0-D806-E9C0-60C4-889473EDBDC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2D16B3F-E36F-CC3F-CE06-E6DA70E20E2A}"/>
              </a:ext>
            </a:extLst>
          </p:cNvPr>
          <p:cNvSpPr>
            <a:spLocks noGrp="1"/>
          </p:cNvSpPr>
          <p:nvPr>
            <p:ph type="dt" sz="half" idx="10"/>
          </p:nvPr>
        </p:nvSpPr>
        <p:spPr/>
        <p:txBody>
          <a:bodyPr/>
          <a:lstStyle/>
          <a:p>
            <a:fld id="{7A3E6E48-48FA-4B70-B659-2E5898AE8CD4}" type="datetime1">
              <a:rPr lang="en-US" smtClean="0"/>
              <a:t>4/5/2026</a:t>
            </a:fld>
            <a:endParaRPr lang="en-US"/>
          </a:p>
        </p:txBody>
      </p:sp>
      <p:sp>
        <p:nvSpPr>
          <p:cNvPr id="5" name="Footer Placeholder 4">
            <a:extLst>
              <a:ext uri="{FF2B5EF4-FFF2-40B4-BE49-F238E27FC236}">
                <a16:creationId xmlns:a16="http://schemas.microsoft.com/office/drawing/2014/main" id="{8D2241D4-9CB1-FC4E-021C-EB7526844D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9205712-5B87-E21A-8321-92AD5D4699EE}"/>
              </a:ext>
            </a:extLst>
          </p:cNvPr>
          <p:cNvSpPr>
            <a:spLocks noGrp="1"/>
          </p:cNvSpPr>
          <p:nvPr>
            <p:ph type="sldNum" sz="quarter" idx="12"/>
          </p:nvPr>
        </p:nvSpPr>
        <p:spPr/>
        <p:txBody>
          <a:bodyPr/>
          <a:lstStyle/>
          <a:p>
            <a:fld id="{10103E07-2DE9-4B10-8F0B-C7E83CA54705}" type="slidenum">
              <a:rPr lang="en-US" smtClean="0"/>
              <a:t>‹#›</a:t>
            </a:fld>
            <a:endParaRPr lang="en-US"/>
          </a:p>
        </p:txBody>
      </p:sp>
    </p:spTree>
    <p:extLst>
      <p:ext uri="{BB962C8B-B14F-4D97-AF65-F5344CB8AC3E}">
        <p14:creationId xmlns:p14="http://schemas.microsoft.com/office/powerpoint/2010/main" val="23469283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5121A3-2168-B8AA-A66F-463282356A8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5537DB2-FEF5-74C6-C266-A5A8840796F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9C613F-5E27-D60A-8474-D87831EF5B7D}"/>
              </a:ext>
            </a:extLst>
          </p:cNvPr>
          <p:cNvSpPr>
            <a:spLocks noGrp="1"/>
          </p:cNvSpPr>
          <p:nvPr>
            <p:ph type="dt" sz="half" idx="10"/>
          </p:nvPr>
        </p:nvSpPr>
        <p:spPr/>
        <p:txBody>
          <a:bodyPr/>
          <a:lstStyle/>
          <a:p>
            <a:fld id="{0D7A32AA-D87D-430D-B579-BD81E79EE7A9}" type="datetime1">
              <a:rPr lang="en-US" smtClean="0"/>
              <a:t>4/5/2026</a:t>
            </a:fld>
            <a:endParaRPr lang="en-US"/>
          </a:p>
        </p:txBody>
      </p:sp>
      <p:sp>
        <p:nvSpPr>
          <p:cNvPr id="5" name="Footer Placeholder 4">
            <a:extLst>
              <a:ext uri="{FF2B5EF4-FFF2-40B4-BE49-F238E27FC236}">
                <a16:creationId xmlns:a16="http://schemas.microsoft.com/office/drawing/2014/main" id="{314F69EB-7B3E-689D-ED80-8D1A5CC1BC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5B5EA1-A43A-191E-0CC3-995CA0426EF2}"/>
              </a:ext>
            </a:extLst>
          </p:cNvPr>
          <p:cNvSpPr>
            <a:spLocks noGrp="1"/>
          </p:cNvSpPr>
          <p:nvPr>
            <p:ph type="sldNum" sz="quarter" idx="12"/>
          </p:nvPr>
        </p:nvSpPr>
        <p:spPr/>
        <p:txBody>
          <a:bodyPr/>
          <a:lstStyle/>
          <a:p>
            <a:fld id="{10103E07-2DE9-4B10-8F0B-C7E83CA54705}" type="slidenum">
              <a:rPr lang="en-US" smtClean="0"/>
              <a:t>‹#›</a:t>
            </a:fld>
            <a:endParaRPr lang="en-US"/>
          </a:p>
        </p:txBody>
      </p:sp>
    </p:spTree>
    <p:extLst>
      <p:ext uri="{BB962C8B-B14F-4D97-AF65-F5344CB8AC3E}">
        <p14:creationId xmlns:p14="http://schemas.microsoft.com/office/powerpoint/2010/main" val="12245433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CF749C-6902-6C57-D564-A01093C5724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D2C5519-9C51-9B12-9129-0FFFDC9DD28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6B107CE-5BFB-B4F2-BD83-ACB3A60B5F8B}"/>
              </a:ext>
            </a:extLst>
          </p:cNvPr>
          <p:cNvSpPr>
            <a:spLocks noGrp="1"/>
          </p:cNvSpPr>
          <p:nvPr>
            <p:ph type="dt" sz="half" idx="10"/>
          </p:nvPr>
        </p:nvSpPr>
        <p:spPr/>
        <p:txBody>
          <a:bodyPr/>
          <a:lstStyle/>
          <a:p>
            <a:fld id="{1EA899B3-A885-4A0C-AA90-70943BAA3408}" type="datetime1">
              <a:rPr lang="en-US" smtClean="0"/>
              <a:t>4/5/2026</a:t>
            </a:fld>
            <a:endParaRPr lang="en-US"/>
          </a:p>
        </p:txBody>
      </p:sp>
      <p:sp>
        <p:nvSpPr>
          <p:cNvPr id="5" name="Footer Placeholder 4">
            <a:extLst>
              <a:ext uri="{FF2B5EF4-FFF2-40B4-BE49-F238E27FC236}">
                <a16:creationId xmlns:a16="http://schemas.microsoft.com/office/drawing/2014/main" id="{F2C9C8A1-68F7-3C19-26E4-95680ACF47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BB0056-0860-ED01-1941-E4686F126F8F}"/>
              </a:ext>
            </a:extLst>
          </p:cNvPr>
          <p:cNvSpPr>
            <a:spLocks noGrp="1"/>
          </p:cNvSpPr>
          <p:nvPr>
            <p:ph type="sldNum" sz="quarter" idx="12"/>
          </p:nvPr>
        </p:nvSpPr>
        <p:spPr/>
        <p:txBody>
          <a:bodyPr/>
          <a:lstStyle/>
          <a:p>
            <a:fld id="{10103E07-2DE9-4B10-8F0B-C7E83CA54705}" type="slidenum">
              <a:rPr lang="en-US" smtClean="0"/>
              <a:t>‹#›</a:t>
            </a:fld>
            <a:endParaRPr lang="en-US"/>
          </a:p>
        </p:txBody>
      </p:sp>
    </p:spTree>
    <p:extLst>
      <p:ext uri="{BB962C8B-B14F-4D97-AF65-F5344CB8AC3E}">
        <p14:creationId xmlns:p14="http://schemas.microsoft.com/office/powerpoint/2010/main" val="31566642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83389D-A00B-30B6-CD60-B148A1FA21C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13858DC-0E11-9530-89E0-B644412A5C9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85B554A-E71A-2892-F6E8-DCD1EC7F721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0BE70CE-5675-74CE-7A28-29A5DA8DB0B3}"/>
              </a:ext>
            </a:extLst>
          </p:cNvPr>
          <p:cNvSpPr>
            <a:spLocks noGrp="1"/>
          </p:cNvSpPr>
          <p:nvPr>
            <p:ph type="dt" sz="half" idx="10"/>
          </p:nvPr>
        </p:nvSpPr>
        <p:spPr/>
        <p:txBody>
          <a:bodyPr/>
          <a:lstStyle/>
          <a:p>
            <a:fld id="{738830C0-2978-4675-95E9-CAE4C61D3006}" type="datetime1">
              <a:rPr lang="en-US" smtClean="0"/>
              <a:t>4/5/2026</a:t>
            </a:fld>
            <a:endParaRPr lang="en-US"/>
          </a:p>
        </p:txBody>
      </p:sp>
      <p:sp>
        <p:nvSpPr>
          <p:cNvPr id="6" name="Footer Placeholder 5">
            <a:extLst>
              <a:ext uri="{FF2B5EF4-FFF2-40B4-BE49-F238E27FC236}">
                <a16:creationId xmlns:a16="http://schemas.microsoft.com/office/drawing/2014/main" id="{3038E524-7D03-15FC-FCA0-9495A54C1D5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E36715A-AEED-A1A8-5F1F-CE15C34B3715}"/>
              </a:ext>
            </a:extLst>
          </p:cNvPr>
          <p:cNvSpPr>
            <a:spLocks noGrp="1"/>
          </p:cNvSpPr>
          <p:nvPr>
            <p:ph type="sldNum" sz="quarter" idx="12"/>
          </p:nvPr>
        </p:nvSpPr>
        <p:spPr/>
        <p:txBody>
          <a:bodyPr/>
          <a:lstStyle/>
          <a:p>
            <a:fld id="{10103E07-2DE9-4B10-8F0B-C7E83CA54705}" type="slidenum">
              <a:rPr lang="en-US" smtClean="0"/>
              <a:t>‹#›</a:t>
            </a:fld>
            <a:endParaRPr lang="en-US"/>
          </a:p>
        </p:txBody>
      </p:sp>
    </p:spTree>
    <p:extLst>
      <p:ext uri="{BB962C8B-B14F-4D97-AF65-F5344CB8AC3E}">
        <p14:creationId xmlns:p14="http://schemas.microsoft.com/office/powerpoint/2010/main" val="27973213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814194-B6A8-BCB3-1E02-20E5FBF85FC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1EDADEB-12DE-6AFB-66B3-294EFE7BE81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80E95F8-01AD-42B5-D734-056B8F89860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2D50522-8CC4-9ABC-739F-15FACC79DF7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BFA34BA-1FFE-B34D-E298-1255087E9C1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3590D8B-6CAE-6F96-6457-CF307D28A456}"/>
              </a:ext>
            </a:extLst>
          </p:cNvPr>
          <p:cNvSpPr>
            <a:spLocks noGrp="1"/>
          </p:cNvSpPr>
          <p:nvPr>
            <p:ph type="dt" sz="half" idx="10"/>
          </p:nvPr>
        </p:nvSpPr>
        <p:spPr/>
        <p:txBody>
          <a:bodyPr/>
          <a:lstStyle/>
          <a:p>
            <a:fld id="{56A1365B-63EF-403C-949B-EA55FC87059F}" type="datetime1">
              <a:rPr lang="en-US" smtClean="0"/>
              <a:t>4/5/2026</a:t>
            </a:fld>
            <a:endParaRPr lang="en-US"/>
          </a:p>
        </p:txBody>
      </p:sp>
      <p:sp>
        <p:nvSpPr>
          <p:cNvPr id="8" name="Footer Placeholder 7">
            <a:extLst>
              <a:ext uri="{FF2B5EF4-FFF2-40B4-BE49-F238E27FC236}">
                <a16:creationId xmlns:a16="http://schemas.microsoft.com/office/drawing/2014/main" id="{D2018DFB-DAB6-4CC3-A264-4F766D16A80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289F952-CC10-6E30-3418-1672364B84F9}"/>
              </a:ext>
            </a:extLst>
          </p:cNvPr>
          <p:cNvSpPr>
            <a:spLocks noGrp="1"/>
          </p:cNvSpPr>
          <p:nvPr>
            <p:ph type="sldNum" sz="quarter" idx="12"/>
          </p:nvPr>
        </p:nvSpPr>
        <p:spPr/>
        <p:txBody>
          <a:bodyPr/>
          <a:lstStyle/>
          <a:p>
            <a:fld id="{10103E07-2DE9-4B10-8F0B-C7E83CA54705}" type="slidenum">
              <a:rPr lang="en-US" smtClean="0"/>
              <a:t>‹#›</a:t>
            </a:fld>
            <a:endParaRPr lang="en-US"/>
          </a:p>
        </p:txBody>
      </p:sp>
    </p:spTree>
    <p:extLst>
      <p:ext uri="{BB962C8B-B14F-4D97-AF65-F5344CB8AC3E}">
        <p14:creationId xmlns:p14="http://schemas.microsoft.com/office/powerpoint/2010/main" val="29425367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F3946-B00C-D599-4598-3D39529136E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1C1B4CE-752D-7BCC-25BE-13D6F670354F}"/>
              </a:ext>
            </a:extLst>
          </p:cNvPr>
          <p:cNvSpPr>
            <a:spLocks noGrp="1"/>
          </p:cNvSpPr>
          <p:nvPr>
            <p:ph type="dt" sz="half" idx="10"/>
          </p:nvPr>
        </p:nvSpPr>
        <p:spPr/>
        <p:txBody>
          <a:bodyPr/>
          <a:lstStyle/>
          <a:p>
            <a:fld id="{03FF36E2-6551-4898-BC7F-7C22DEDA52D3}" type="datetime1">
              <a:rPr lang="en-US" smtClean="0"/>
              <a:t>4/5/2026</a:t>
            </a:fld>
            <a:endParaRPr lang="en-US"/>
          </a:p>
        </p:txBody>
      </p:sp>
      <p:sp>
        <p:nvSpPr>
          <p:cNvPr id="4" name="Footer Placeholder 3">
            <a:extLst>
              <a:ext uri="{FF2B5EF4-FFF2-40B4-BE49-F238E27FC236}">
                <a16:creationId xmlns:a16="http://schemas.microsoft.com/office/drawing/2014/main" id="{A1E3AB9B-0ACD-DC91-E0B6-398E942A59C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AEB6FA3-4C96-0DBB-02CF-849FE517499B}"/>
              </a:ext>
            </a:extLst>
          </p:cNvPr>
          <p:cNvSpPr>
            <a:spLocks noGrp="1"/>
          </p:cNvSpPr>
          <p:nvPr>
            <p:ph type="sldNum" sz="quarter" idx="12"/>
          </p:nvPr>
        </p:nvSpPr>
        <p:spPr/>
        <p:txBody>
          <a:bodyPr/>
          <a:lstStyle/>
          <a:p>
            <a:fld id="{10103E07-2DE9-4B10-8F0B-C7E83CA54705}" type="slidenum">
              <a:rPr lang="en-US" smtClean="0"/>
              <a:t>‹#›</a:t>
            </a:fld>
            <a:endParaRPr lang="en-US"/>
          </a:p>
        </p:txBody>
      </p:sp>
    </p:spTree>
    <p:extLst>
      <p:ext uri="{BB962C8B-B14F-4D97-AF65-F5344CB8AC3E}">
        <p14:creationId xmlns:p14="http://schemas.microsoft.com/office/powerpoint/2010/main" val="36619056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2AC8A97-3699-812A-3B20-E6977F780848}"/>
              </a:ext>
            </a:extLst>
          </p:cNvPr>
          <p:cNvSpPr>
            <a:spLocks noGrp="1"/>
          </p:cNvSpPr>
          <p:nvPr>
            <p:ph type="dt" sz="half" idx="10"/>
          </p:nvPr>
        </p:nvSpPr>
        <p:spPr/>
        <p:txBody>
          <a:bodyPr/>
          <a:lstStyle/>
          <a:p>
            <a:fld id="{6356DE71-29F8-490C-B0BC-37D076072B5C}" type="datetime1">
              <a:rPr lang="en-US" smtClean="0"/>
              <a:t>4/5/2026</a:t>
            </a:fld>
            <a:endParaRPr lang="en-US"/>
          </a:p>
        </p:txBody>
      </p:sp>
      <p:sp>
        <p:nvSpPr>
          <p:cNvPr id="3" name="Footer Placeholder 2">
            <a:extLst>
              <a:ext uri="{FF2B5EF4-FFF2-40B4-BE49-F238E27FC236}">
                <a16:creationId xmlns:a16="http://schemas.microsoft.com/office/drawing/2014/main" id="{28A53051-8407-AF03-EB29-60E14D61A80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DA4433D-DD0F-4196-5991-C28E68115911}"/>
              </a:ext>
            </a:extLst>
          </p:cNvPr>
          <p:cNvSpPr>
            <a:spLocks noGrp="1"/>
          </p:cNvSpPr>
          <p:nvPr>
            <p:ph type="sldNum" sz="quarter" idx="12"/>
          </p:nvPr>
        </p:nvSpPr>
        <p:spPr/>
        <p:txBody>
          <a:bodyPr/>
          <a:lstStyle/>
          <a:p>
            <a:fld id="{10103E07-2DE9-4B10-8F0B-C7E83CA54705}" type="slidenum">
              <a:rPr lang="en-US" smtClean="0"/>
              <a:t>‹#›</a:t>
            </a:fld>
            <a:endParaRPr lang="en-US"/>
          </a:p>
        </p:txBody>
      </p:sp>
    </p:spTree>
    <p:extLst>
      <p:ext uri="{BB962C8B-B14F-4D97-AF65-F5344CB8AC3E}">
        <p14:creationId xmlns:p14="http://schemas.microsoft.com/office/powerpoint/2010/main" val="31610138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380E6A-E572-5456-1A72-BC1F165753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2502D5D-35DE-88A2-71C4-FE0A0825335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9710CA2-1773-970F-474A-FE6FB3E936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7B1FAD3-372A-C1C6-9096-21AB7137A031}"/>
              </a:ext>
            </a:extLst>
          </p:cNvPr>
          <p:cNvSpPr>
            <a:spLocks noGrp="1"/>
          </p:cNvSpPr>
          <p:nvPr>
            <p:ph type="dt" sz="half" idx="10"/>
          </p:nvPr>
        </p:nvSpPr>
        <p:spPr/>
        <p:txBody>
          <a:bodyPr/>
          <a:lstStyle/>
          <a:p>
            <a:fld id="{173D5BFB-A351-486D-9CBA-858EC4D9F9DF}" type="datetime1">
              <a:rPr lang="en-US" smtClean="0"/>
              <a:t>4/5/2026</a:t>
            </a:fld>
            <a:endParaRPr lang="en-US"/>
          </a:p>
        </p:txBody>
      </p:sp>
      <p:sp>
        <p:nvSpPr>
          <p:cNvPr id="6" name="Footer Placeholder 5">
            <a:extLst>
              <a:ext uri="{FF2B5EF4-FFF2-40B4-BE49-F238E27FC236}">
                <a16:creationId xmlns:a16="http://schemas.microsoft.com/office/drawing/2014/main" id="{44802E9C-6615-DDC3-C8B5-9755C96B057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F76A14B-AE57-1A87-654E-C113D7A8715D}"/>
              </a:ext>
            </a:extLst>
          </p:cNvPr>
          <p:cNvSpPr>
            <a:spLocks noGrp="1"/>
          </p:cNvSpPr>
          <p:nvPr>
            <p:ph type="sldNum" sz="quarter" idx="12"/>
          </p:nvPr>
        </p:nvSpPr>
        <p:spPr/>
        <p:txBody>
          <a:bodyPr/>
          <a:lstStyle/>
          <a:p>
            <a:fld id="{10103E07-2DE9-4B10-8F0B-C7E83CA54705}" type="slidenum">
              <a:rPr lang="en-US" smtClean="0"/>
              <a:t>‹#›</a:t>
            </a:fld>
            <a:endParaRPr lang="en-US"/>
          </a:p>
        </p:txBody>
      </p:sp>
    </p:spTree>
    <p:extLst>
      <p:ext uri="{BB962C8B-B14F-4D97-AF65-F5344CB8AC3E}">
        <p14:creationId xmlns:p14="http://schemas.microsoft.com/office/powerpoint/2010/main" val="20309752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AC8CB-D2A0-63A9-6F91-2E4B2297696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F2CE978-3590-B426-6F07-87B1ABB18B9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E1E2CF2-8BED-793B-167C-56C431BEF3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83F6529-386C-B74A-E801-F291AC9D1427}"/>
              </a:ext>
            </a:extLst>
          </p:cNvPr>
          <p:cNvSpPr>
            <a:spLocks noGrp="1"/>
          </p:cNvSpPr>
          <p:nvPr>
            <p:ph type="dt" sz="half" idx="10"/>
          </p:nvPr>
        </p:nvSpPr>
        <p:spPr/>
        <p:txBody>
          <a:bodyPr/>
          <a:lstStyle/>
          <a:p>
            <a:fld id="{4B03D667-0B81-4758-AEFA-EC05A5385F32}" type="datetime1">
              <a:rPr lang="en-US" smtClean="0"/>
              <a:t>4/5/2026</a:t>
            </a:fld>
            <a:endParaRPr lang="en-US"/>
          </a:p>
        </p:txBody>
      </p:sp>
      <p:sp>
        <p:nvSpPr>
          <p:cNvPr id="6" name="Footer Placeholder 5">
            <a:extLst>
              <a:ext uri="{FF2B5EF4-FFF2-40B4-BE49-F238E27FC236}">
                <a16:creationId xmlns:a16="http://schemas.microsoft.com/office/drawing/2014/main" id="{7C083DB3-E219-72E4-7482-A9E32FF9F74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A2239FF-E8F9-0868-B10E-41D2B9683E6C}"/>
              </a:ext>
            </a:extLst>
          </p:cNvPr>
          <p:cNvSpPr>
            <a:spLocks noGrp="1"/>
          </p:cNvSpPr>
          <p:nvPr>
            <p:ph type="sldNum" sz="quarter" idx="12"/>
          </p:nvPr>
        </p:nvSpPr>
        <p:spPr/>
        <p:txBody>
          <a:bodyPr/>
          <a:lstStyle/>
          <a:p>
            <a:fld id="{10103E07-2DE9-4B10-8F0B-C7E83CA54705}" type="slidenum">
              <a:rPr lang="en-US" smtClean="0"/>
              <a:t>‹#›</a:t>
            </a:fld>
            <a:endParaRPr lang="en-US"/>
          </a:p>
        </p:txBody>
      </p:sp>
    </p:spTree>
    <p:extLst>
      <p:ext uri="{BB962C8B-B14F-4D97-AF65-F5344CB8AC3E}">
        <p14:creationId xmlns:p14="http://schemas.microsoft.com/office/powerpoint/2010/main" val="5823893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7EBC9-AEE3-9F8A-F7D9-48393599A33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1A826FA-2D28-D04C-3E77-08AD0684AC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6BAB93D-959A-EDED-EC23-4FFAEE2AB06A}"/>
              </a:ext>
            </a:extLst>
          </p:cNvPr>
          <p:cNvSpPr>
            <a:spLocks noGrp="1"/>
          </p:cNvSpPr>
          <p:nvPr>
            <p:ph type="dt" sz="half" idx="10"/>
          </p:nvPr>
        </p:nvSpPr>
        <p:spPr/>
        <p:txBody>
          <a:bodyPr/>
          <a:lstStyle/>
          <a:p>
            <a:fld id="{D435A8B5-6F2C-4B64-9926-EB908F488F67}" type="datetime1">
              <a:rPr lang="en-US" smtClean="0"/>
              <a:t>4/5/2026</a:t>
            </a:fld>
            <a:endParaRPr lang="en-US"/>
          </a:p>
        </p:txBody>
      </p:sp>
      <p:sp>
        <p:nvSpPr>
          <p:cNvPr id="5" name="Footer Placeholder 4">
            <a:extLst>
              <a:ext uri="{FF2B5EF4-FFF2-40B4-BE49-F238E27FC236}">
                <a16:creationId xmlns:a16="http://schemas.microsoft.com/office/drawing/2014/main" id="{6F6D845E-4438-1335-0CB4-184FB506AE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6F51D76-CB17-6DFE-60B1-3F4FA84E2B2A}"/>
              </a:ext>
            </a:extLst>
          </p:cNvPr>
          <p:cNvSpPr>
            <a:spLocks noGrp="1"/>
          </p:cNvSpPr>
          <p:nvPr>
            <p:ph type="sldNum" sz="quarter" idx="12"/>
          </p:nvPr>
        </p:nvSpPr>
        <p:spPr/>
        <p:txBody>
          <a:bodyPr/>
          <a:lstStyle/>
          <a:p>
            <a:fld id="{10103E07-2DE9-4B10-8F0B-C7E83CA54705}" type="slidenum">
              <a:rPr lang="en-US" smtClean="0"/>
              <a:t>‹#›</a:t>
            </a:fld>
            <a:endParaRPr lang="en-US"/>
          </a:p>
        </p:txBody>
      </p:sp>
    </p:spTree>
    <p:extLst>
      <p:ext uri="{BB962C8B-B14F-4D97-AF65-F5344CB8AC3E}">
        <p14:creationId xmlns:p14="http://schemas.microsoft.com/office/powerpoint/2010/main" val="36466327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FB1B4F4-BCE6-EA2C-3569-A831ED0CFAF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DBA4EF0-70D8-30D4-9F38-C9F0F6F7EB5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F80C5B-DA76-B2E9-643D-066D638CC334}"/>
              </a:ext>
            </a:extLst>
          </p:cNvPr>
          <p:cNvSpPr>
            <a:spLocks noGrp="1"/>
          </p:cNvSpPr>
          <p:nvPr>
            <p:ph type="dt" sz="half" idx="10"/>
          </p:nvPr>
        </p:nvSpPr>
        <p:spPr/>
        <p:txBody>
          <a:bodyPr/>
          <a:lstStyle/>
          <a:p>
            <a:fld id="{CE9ED5A8-7DEA-4AD9-9ADA-534566D99018}" type="datetime1">
              <a:rPr lang="en-US" smtClean="0"/>
              <a:t>4/5/2026</a:t>
            </a:fld>
            <a:endParaRPr lang="en-US"/>
          </a:p>
        </p:txBody>
      </p:sp>
      <p:sp>
        <p:nvSpPr>
          <p:cNvPr id="5" name="Footer Placeholder 4">
            <a:extLst>
              <a:ext uri="{FF2B5EF4-FFF2-40B4-BE49-F238E27FC236}">
                <a16:creationId xmlns:a16="http://schemas.microsoft.com/office/drawing/2014/main" id="{3CEB1BF7-E673-1BAC-1FB0-8B4F090F14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BFF46C-C5CE-BD53-9164-5BC0A00D0E62}"/>
              </a:ext>
            </a:extLst>
          </p:cNvPr>
          <p:cNvSpPr>
            <a:spLocks noGrp="1"/>
          </p:cNvSpPr>
          <p:nvPr>
            <p:ph type="sldNum" sz="quarter" idx="12"/>
          </p:nvPr>
        </p:nvSpPr>
        <p:spPr/>
        <p:txBody>
          <a:bodyPr/>
          <a:lstStyle/>
          <a:p>
            <a:fld id="{10103E07-2DE9-4B10-8F0B-C7E83CA54705}" type="slidenum">
              <a:rPr lang="en-US" smtClean="0"/>
              <a:t>‹#›</a:t>
            </a:fld>
            <a:endParaRPr lang="en-US"/>
          </a:p>
        </p:txBody>
      </p:sp>
    </p:spTree>
    <p:extLst>
      <p:ext uri="{BB962C8B-B14F-4D97-AF65-F5344CB8AC3E}">
        <p14:creationId xmlns:p14="http://schemas.microsoft.com/office/powerpoint/2010/main" val="26109337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A55FA73-63DB-09E9-243A-CA9F1A362B5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9CE07E1-A121-5D8A-FB92-82DBAFEE83B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4029A1-D648-79A0-6206-3DD7DC90922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5072FEE-87AF-4CCB-A7B7-26D4D03C468F}" type="datetime1">
              <a:rPr lang="en-US" smtClean="0"/>
              <a:t>4/5/2026</a:t>
            </a:fld>
            <a:endParaRPr lang="en-US"/>
          </a:p>
        </p:txBody>
      </p:sp>
      <p:sp>
        <p:nvSpPr>
          <p:cNvPr id="5" name="Footer Placeholder 4">
            <a:extLst>
              <a:ext uri="{FF2B5EF4-FFF2-40B4-BE49-F238E27FC236}">
                <a16:creationId xmlns:a16="http://schemas.microsoft.com/office/drawing/2014/main" id="{8FA4EA34-2F49-85B9-A040-AFECDF19C73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BF0902D-A149-1627-E301-F4270489F17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0103E07-2DE9-4B10-8F0B-C7E83CA54705}" type="slidenum">
              <a:rPr lang="en-US" smtClean="0"/>
              <a:t>‹#›</a:t>
            </a:fld>
            <a:endParaRPr lang="en-US"/>
          </a:p>
        </p:txBody>
      </p:sp>
    </p:spTree>
    <p:extLst>
      <p:ext uri="{BB962C8B-B14F-4D97-AF65-F5344CB8AC3E}">
        <p14:creationId xmlns:p14="http://schemas.microsoft.com/office/powerpoint/2010/main" val="37205437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hyperlink" Target="https://doi.org/10.3390/su151310405" TargetMode="External"/><Relationship Id="rId7" Type="http://schemas.openxmlformats.org/officeDocument/2006/relationships/hyperlink" Target="https://doi.org/10.1016/j.eiar.2005.04.001" TargetMode="External"/><Relationship Id="rId2" Type="http://schemas.openxmlformats.org/officeDocument/2006/relationships/hyperlink" Target="https://stock.adobe.com/" TargetMode="External"/><Relationship Id="rId1" Type="http://schemas.openxmlformats.org/officeDocument/2006/relationships/slideLayout" Target="../slideLayouts/slideLayout7.xml"/><Relationship Id="rId6" Type="http://schemas.openxmlformats.org/officeDocument/2006/relationships/hyperlink" Target="https://doi.org/10.1080/00139157.2023.2167457" TargetMode="External"/><Relationship Id="rId5" Type="http://schemas.openxmlformats.org/officeDocument/2006/relationships/hyperlink" Target="https://doi.org/10.1002/eet.2059" TargetMode="External"/><Relationship Id="rId4" Type="http://schemas.openxmlformats.org/officeDocument/2006/relationships/hyperlink" Target="https://doi.org/10.1016/j.jclepro.2021.128297"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69ACCF-1115-9DE3-A375-1754B6CA3FA4}"/>
              </a:ext>
            </a:extLst>
          </p:cNvPr>
          <p:cNvSpPr>
            <a:spLocks noGrp="1"/>
          </p:cNvSpPr>
          <p:nvPr>
            <p:ph type="ctrTitle"/>
          </p:nvPr>
        </p:nvSpPr>
        <p:spPr>
          <a:xfrm>
            <a:off x="1524000" y="3552976"/>
            <a:ext cx="9144000" cy="2387600"/>
          </a:xfrm>
        </p:spPr>
        <p:txBody>
          <a:bodyPr>
            <a:normAutofit fontScale="90000"/>
          </a:bodyPr>
          <a:lstStyle/>
          <a:p>
            <a:pPr>
              <a:lnSpc>
                <a:spcPct val="200000"/>
              </a:lnSpc>
            </a:pPr>
            <a:br>
              <a:rPr lang="en-US" b="1" dirty="0">
                <a:latin typeface="Palatino Linotype" panose="02040502050505030304" pitchFamily="18" charset="0"/>
              </a:rPr>
            </a:br>
            <a:br>
              <a:rPr lang="en-US" b="1" dirty="0">
                <a:latin typeface="Palatino Linotype" panose="02040502050505030304" pitchFamily="18" charset="0"/>
              </a:rPr>
            </a:br>
            <a:br>
              <a:rPr lang="en-US" b="1" dirty="0">
                <a:latin typeface="Palatino Linotype" panose="02040502050505030304" pitchFamily="18" charset="0"/>
              </a:rPr>
            </a:br>
            <a:r>
              <a:rPr lang="en-US" b="1" dirty="0">
                <a:latin typeface="Palatino Linotype" panose="02040502050505030304" pitchFamily="18" charset="0"/>
              </a:rPr>
              <a:t>The Growing E-Waste Crisis</a:t>
            </a:r>
            <a:br>
              <a:rPr lang="en-US" dirty="0"/>
            </a:br>
            <a:r>
              <a:rPr lang="en-US" sz="2200" dirty="0">
                <a:latin typeface="Palatino Linotype" panose="02040502050505030304" pitchFamily="18" charset="0"/>
              </a:rPr>
              <a:t>Siobhan Doherty</a:t>
            </a:r>
            <a:br>
              <a:rPr lang="en-US" sz="2200" dirty="0">
                <a:latin typeface="Palatino Linotype" panose="02040502050505030304" pitchFamily="18" charset="0"/>
              </a:rPr>
            </a:br>
            <a:r>
              <a:rPr lang="en-US" sz="2200" dirty="0">
                <a:latin typeface="Palatino Linotype" panose="02040502050505030304" pitchFamily="18" charset="0"/>
              </a:rPr>
              <a:t>CIS311: Technical Writing</a:t>
            </a:r>
            <a:br>
              <a:rPr lang="en-US" sz="2200" dirty="0">
                <a:latin typeface="Palatino Linotype" panose="02040502050505030304" pitchFamily="18" charset="0"/>
              </a:rPr>
            </a:br>
            <a:r>
              <a:rPr lang="en-US" sz="2200" dirty="0">
                <a:latin typeface="Palatino Linotype" panose="02040502050505030304" pitchFamily="18" charset="0"/>
              </a:rPr>
              <a:t>Post University Computer Information Systems</a:t>
            </a:r>
            <a:br>
              <a:rPr lang="en-US" sz="2200" dirty="0">
                <a:latin typeface="Palatino Linotype" panose="02040502050505030304" pitchFamily="18" charset="0"/>
              </a:rPr>
            </a:br>
            <a:r>
              <a:rPr lang="en-US" sz="2200" dirty="0">
                <a:latin typeface="Palatino Linotype" panose="02040502050505030304" pitchFamily="18" charset="0"/>
              </a:rPr>
              <a:t>Professors Franklin Orellana and Louis Unger</a:t>
            </a:r>
            <a:br>
              <a:rPr lang="en-US" sz="2200" dirty="0">
                <a:latin typeface="Palatino Linotype" panose="02040502050505030304" pitchFamily="18" charset="0"/>
              </a:rPr>
            </a:br>
            <a:r>
              <a:rPr lang="en-US" sz="2200" dirty="0">
                <a:latin typeface="Palatino Linotype" panose="02040502050505030304" pitchFamily="18" charset="0"/>
              </a:rPr>
              <a:t>April 5, 2026</a:t>
            </a:r>
            <a:br>
              <a:rPr lang="en-US" sz="3600" dirty="0">
                <a:latin typeface="Palatino Linotype" panose="02040502050505030304" pitchFamily="18" charset="0"/>
              </a:rPr>
            </a:br>
            <a:endParaRPr lang="en-US" sz="3600" dirty="0">
              <a:latin typeface="Palatino Linotype" panose="02040502050505030304" pitchFamily="18" charset="0"/>
            </a:endParaRPr>
          </a:p>
        </p:txBody>
      </p:sp>
    </p:spTree>
    <p:extLst>
      <p:ext uri="{BB962C8B-B14F-4D97-AF65-F5344CB8AC3E}">
        <p14:creationId xmlns:p14="http://schemas.microsoft.com/office/powerpoint/2010/main" val="38618068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30000"/>
            <a:lum/>
          </a:blip>
          <a:srcRect/>
          <a:stretch>
            <a:fillRect t="-9000" b="-9000"/>
          </a:stretch>
        </a:blip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6691677-385D-03B3-C83A-FE6BDFB758FA}"/>
              </a:ext>
            </a:extLst>
          </p:cNvPr>
          <p:cNvSpPr txBox="1"/>
          <p:nvPr/>
        </p:nvSpPr>
        <p:spPr>
          <a:xfrm>
            <a:off x="1978939" y="1084883"/>
            <a:ext cx="8234121" cy="4406206"/>
          </a:xfrm>
          <a:prstGeom prst="rect">
            <a:avLst/>
          </a:prstGeom>
          <a:noFill/>
        </p:spPr>
        <p:txBody>
          <a:bodyPr wrap="square">
            <a:spAutoFit/>
          </a:bodyPr>
          <a:lstStyle/>
          <a:p>
            <a:pPr marL="0" marR="0" algn="ctr">
              <a:lnSpc>
                <a:spcPct val="115000"/>
              </a:lnSpc>
              <a:spcAft>
                <a:spcPts val="800"/>
              </a:spcAft>
              <a:buNone/>
            </a:pPr>
            <a:r>
              <a:rPr lang="en-US" sz="3200" b="1" kern="100" dirty="0">
                <a:effectLst/>
                <a:latin typeface="Palatino Linotype" panose="02040502050505030304" pitchFamily="18" charset="0"/>
                <a:ea typeface="Aptos" panose="020B0004020202020204" pitchFamily="34" charset="0"/>
                <a:cs typeface="Times New Roman" panose="02020603050405020304" pitchFamily="18" charset="0"/>
              </a:rPr>
              <a:t>E</a:t>
            </a:r>
            <a:r>
              <a:rPr lang="en-US" sz="3200" b="1" kern="100" dirty="0">
                <a:effectLst/>
                <a:latin typeface="Palatino Linotype" panose="02040502050505030304" pitchFamily="18" charset="0"/>
                <a:ea typeface="Aptos" panose="020B0004020202020204" pitchFamily="34" charset="0"/>
                <a:cs typeface="Cambria Math" panose="02040503050406030204" pitchFamily="18" charset="0"/>
              </a:rPr>
              <a:t>‑</a:t>
            </a:r>
            <a:r>
              <a:rPr lang="en-US" sz="3200" b="1" kern="100" dirty="0">
                <a:effectLst/>
                <a:latin typeface="Palatino Linotype" panose="02040502050505030304" pitchFamily="18" charset="0"/>
                <a:ea typeface="Aptos" panose="020B0004020202020204" pitchFamily="34" charset="0"/>
                <a:cs typeface="Times New Roman" panose="02020603050405020304" pitchFamily="18" charset="0"/>
              </a:rPr>
              <a:t>Waste and Environmental Impact</a:t>
            </a:r>
            <a:endParaRPr lang="en-US" sz="32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Aft>
                <a:spcPts val="800"/>
              </a:spcAft>
              <a:buNone/>
            </a:pPr>
            <a:endParaRPr lang="en-US" sz="1800" kern="100" dirty="0">
              <a:effectLst/>
              <a:latin typeface="Palatino Linotype" panose="02040502050505030304" pitchFamily="18" charset="0"/>
              <a:ea typeface="Aptos" panose="020B0004020202020204" pitchFamily="34" charset="0"/>
              <a:cs typeface="Times New Roman" panose="02020603050405020304" pitchFamily="18" charset="0"/>
            </a:endParaRPr>
          </a:p>
          <a:p>
            <a:pPr marL="0" marR="0">
              <a:lnSpc>
                <a:spcPct val="115000"/>
              </a:lnSpc>
              <a:spcAft>
                <a:spcPts val="800"/>
              </a:spcAft>
              <a:buNone/>
            </a:pPr>
            <a:r>
              <a:rPr lang="en-US" sz="2000" kern="100" dirty="0">
                <a:effectLst/>
                <a:latin typeface="Palatino Linotype" panose="02040502050505030304" pitchFamily="18" charset="0"/>
                <a:ea typeface="Aptos" panose="020B0004020202020204" pitchFamily="34" charset="0"/>
                <a:cs typeface="Times New Roman" panose="02020603050405020304" pitchFamily="18" charset="0"/>
              </a:rPr>
              <a:t>• E</a:t>
            </a:r>
            <a:r>
              <a:rPr lang="en-US" sz="2000" kern="100" dirty="0">
                <a:effectLst/>
                <a:latin typeface="Palatino Linotype" panose="02040502050505030304" pitchFamily="18" charset="0"/>
                <a:ea typeface="Aptos" panose="020B0004020202020204" pitchFamily="34" charset="0"/>
                <a:cs typeface="Cambria Math" panose="02040503050406030204" pitchFamily="18" charset="0"/>
              </a:rPr>
              <a:t>‑</a:t>
            </a:r>
            <a:r>
              <a:rPr lang="en-US" sz="2000" kern="100" dirty="0">
                <a:effectLst/>
                <a:latin typeface="Palatino Linotype" panose="02040502050505030304" pitchFamily="18" charset="0"/>
                <a:ea typeface="Aptos" panose="020B0004020202020204" pitchFamily="34" charset="0"/>
                <a:cs typeface="Times New Roman" panose="02020603050405020304" pitchFamily="18" charset="0"/>
              </a:rPr>
              <a:t>waste refers to discarded electronic devices such as phones, computers, and appliances</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Aft>
                <a:spcPts val="800"/>
              </a:spcAft>
              <a:buNone/>
            </a:pPr>
            <a:r>
              <a:rPr lang="en-US" sz="2000" kern="100" dirty="0">
                <a:effectLst/>
                <a:latin typeface="Palatino Linotype" panose="02040502050505030304" pitchFamily="18" charset="0"/>
                <a:ea typeface="Aptos" panose="020B0004020202020204" pitchFamily="34" charset="0"/>
                <a:cs typeface="Times New Roman" panose="02020603050405020304" pitchFamily="18" charset="0"/>
              </a:rPr>
              <a:t>• Rapid technological advancement and short product lifecycles drive global e</a:t>
            </a:r>
            <a:r>
              <a:rPr lang="en-US" sz="2000" kern="100" dirty="0">
                <a:effectLst/>
                <a:latin typeface="Palatino Linotype" panose="02040502050505030304" pitchFamily="18" charset="0"/>
                <a:ea typeface="Aptos" panose="020B0004020202020204" pitchFamily="34" charset="0"/>
                <a:cs typeface="Cambria Math" panose="02040503050406030204" pitchFamily="18" charset="0"/>
              </a:rPr>
              <a:t>‑</a:t>
            </a:r>
            <a:r>
              <a:rPr lang="en-US" sz="2000" kern="100" dirty="0">
                <a:effectLst/>
                <a:latin typeface="Palatino Linotype" panose="02040502050505030304" pitchFamily="18" charset="0"/>
                <a:ea typeface="Aptos" panose="020B0004020202020204" pitchFamily="34" charset="0"/>
                <a:cs typeface="Times New Roman" panose="02020603050405020304" pitchFamily="18" charset="0"/>
              </a:rPr>
              <a:t>waste growth</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Aft>
                <a:spcPts val="800"/>
              </a:spcAft>
              <a:buNone/>
            </a:pPr>
            <a:r>
              <a:rPr lang="en-US" sz="2000" kern="100" dirty="0">
                <a:effectLst/>
                <a:latin typeface="Palatino Linotype" panose="02040502050505030304" pitchFamily="18" charset="0"/>
                <a:ea typeface="Aptos" panose="020B0004020202020204" pitchFamily="34" charset="0"/>
                <a:cs typeface="Times New Roman" panose="02020603050405020304" pitchFamily="18" charset="0"/>
              </a:rPr>
              <a:t>• Improper disposal introduces hazardous materials into the environment</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Aft>
                <a:spcPts val="800"/>
              </a:spcAft>
              <a:buNone/>
            </a:pPr>
            <a:r>
              <a:rPr lang="en-US" sz="2000" kern="100" dirty="0">
                <a:effectLst/>
                <a:latin typeface="Palatino Linotype" panose="02040502050505030304" pitchFamily="18" charset="0"/>
                <a:ea typeface="Aptos" panose="020B0004020202020204" pitchFamily="34" charset="0"/>
                <a:cs typeface="Times New Roman" panose="02020603050405020304" pitchFamily="18" charset="0"/>
              </a:rPr>
              <a:t>• E</a:t>
            </a:r>
            <a:r>
              <a:rPr lang="en-US" sz="2000" kern="100" dirty="0">
                <a:effectLst/>
                <a:latin typeface="Palatino Linotype" panose="02040502050505030304" pitchFamily="18" charset="0"/>
                <a:ea typeface="Aptos" panose="020B0004020202020204" pitchFamily="34" charset="0"/>
                <a:cs typeface="Cambria Math" panose="02040503050406030204" pitchFamily="18" charset="0"/>
              </a:rPr>
              <a:t>‑</a:t>
            </a:r>
            <a:r>
              <a:rPr lang="en-US" sz="2000" kern="100" dirty="0">
                <a:effectLst/>
                <a:latin typeface="Palatino Linotype" panose="02040502050505030304" pitchFamily="18" charset="0"/>
                <a:ea typeface="Aptos" panose="020B0004020202020204" pitchFamily="34" charset="0"/>
                <a:cs typeface="Times New Roman" panose="02020603050405020304" pitchFamily="18" charset="0"/>
              </a:rPr>
              <a:t>waste poses long</a:t>
            </a:r>
            <a:r>
              <a:rPr lang="en-US" sz="2000" kern="100" dirty="0">
                <a:effectLst/>
                <a:latin typeface="Palatino Linotype" panose="02040502050505030304" pitchFamily="18" charset="0"/>
                <a:ea typeface="Aptos" panose="020B0004020202020204" pitchFamily="34" charset="0"/>
                <a:cs typeface="Cambria Math" panose="02040503050406030204" pitchFamily="18" charset="0"/>
              </a:rPr>
              <a:t>‑</a:t>
            </a:r>
            <a:r>
              <a:rPr lang="en-US" sz="2000" kern="100" dirty="0">
                <a:effectLst/>
                <a:latin typeface="Palatino Linotype" panose="02040502050505030304" pitchFamily="18" charset="0"/>
                <a:ea typeface="Aptos" panose="020B0004020202020204" pitchFamily="34" charset="0"/>
                <a:cs typeface="Times New Roman" panose="02020603050405020304" pitchFamily="18" charset="0"/>
              </a:rPr>
              <a:t>term environmental and sustainability challenges</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Aft>
                <a:spcPts val="800"/>
              </a:spcAft>
              <a:buNone/>
            </a:pPr>
            <a:r>
              <a:rPr lang="en-US" sz="2000" kern="100" dirty="0">
                <a:effectLst/>
                <a:latin typeface="Palatino Linotype" panose="02040502050505030304" pitchFamily="18" charset="0"/>
                <a:ea typeface="Aptos" panose="020B0004020202020204" pitchFamily="34" charset="0"/>
                <a:cs typeface="Times New Roman" panose="02020603050405020304" pitchFamily="18" charset="0"/>
              </a:rPr>
              <a:t>(Widmer et al., 2005)</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ED4734A2-B5C9-00A9-5A28-93DF3B78764B}"/>
              </a:ext>
            </a:extLst>
          </p:cNvPr>
          <p:cNvSpPr>
            <a:spLocks noGrp="1"/>
          </p:cNvSpPr>
          <p:nvPr>
            <p:ph type="sldNum" sz="quarter" idx="12"/>
          </p:nvPr>
        </p:nvSpPr>
        <p:spPr/>
        <p:txBody>
          <a:bodyPr/>
          <a:lstStyle/>
          <a:p>
            <a:r>
              <a:rPr lang="en-US" dirty="0"/>
              <a:t>1</a:t>
            </a:r>
          </a:p>
        </p:txBody>
      </p:sp>
    </p:spTree>
    <p:extLst>
      <p:ext uri="{BB962C8B-B14F-4D97-AF65-F5344CB8AC3E}">
        <p14:creationId xmlns:p14="http://schemas.microsoft.com/office/powerpoint/2010/main" val="19859816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30000"/>
            <a:lum/>
          </a:blip>
          <a:srcRect/>
          <a:stretch>
            <a:fillRect/>
          </a:stretch>
        </a:blip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BAFA7C5-0F79-5688-9EDB-23C240216A75}"/>
              </a:ext>
            </a:extLst>
          </p:cNvPr>
          <p:cNvSpPr txBox="1"/>
          <p:nvPr/>
        </p:nvSpPr>
        <p:spPr>
          <a:xfrm>
            <a:off x="2769668" y="1220599"/>
            <a:ext cx="7279107" cy="3847207"/>
          </a:xfrm>
          <a:prstGeom prst="rect">
            <a:avLst/>
          </a:prstGeom>
          <a:noFill/>
        </p:spPr>
        <p:txBody>
          <a:bodyPr wrap="square">
            <a:spAutoFit/>
          </a:bodyPr>
          <a:lstStyle/>
          <a:p>
            <a:r>
              <a:rPr lang="en-US" sz="3200" b="1" dirty="0">
                <a:latin typeface="Palatino Linotype" panose="02040502050505030304" pitchFamily="18" charset="0"/>
              </a:rPr>
              <a:t>Environmental and Health Impacts</a:t>
            </a:r>
          </a:p>
          <a:p>
            <a:endParaRPr lang="en-US" sz="3200" b="1" dirty="0">
              <a:latin typeface="Palatino Linotype" panose="02040502050505030304" pitchFamily="18" charset="0"/>
            </a:endParaRPr>
          </a:p>
          <a:p>
            <a:r>
              <a:rPr lang="en-US" sz="2000" dirty="0">
                <a:latin typeface="Palatino Linotype" panose="02040502050505030304" pitchFamily="18" charset="0"/>
              </a:rPr>
              <a:t>• Toxic substances from e‑waste contaminate air, soil, and water</a:t>
            </a:r>
          </a:p>
          <a:p>
            <a:r>
              <a:rPr lang="en-US" sz="2000" dirty="0">
                <a:latin typeface="Palatino Linotype" panose="02040502050505030304" pitchFamily="18" charset="0"/>
              </a:rPr>
              <a:t>• Informal recycling and dumping expose communities to serious health risks</a:t>
            </a:r>
          </a:p>
          <a:p>
            <a:r>
              <a:rPr lang="en-US" sz="2000" dirty="0">
                <a:latin typeface="Palatino Linotype" panose="02040502050505030304" pitchFamily="18" charset="0"/>
              </a:rPr>
              <a:t>• Documented impacts include neurological damage and respiratory illness</a:t>
            </a:r>
          </a:p>
          <a:p>
            <a:r>
              <a:rPr lang="en-US" sz="2000" dirty="0">
                <a:latin typeface="Palatino Linotype" panose="02040502050505030304" pitchFamily="18" charset="0"/>
              </a:rPr>
              <a:t>• Environmental harms disproportionately affect vulnerable populations</a:t>
            </a:r>
          </a:p>
          <a:p>
            <a:r>
              <a:rPr lang="en-US" sz="2000" dirty="0">
                <a:latin typeface="Palatino Linotype" panose="02040502050505030304" pitchFamily="18" charset="0"/>
              </a:rPr>
              <a:t>(</a:t>
            </a:r>
            <a:r>
              <a:rPr lang="en-US" sz="2000" dirty="0" err="1">
                <a:latin typeface="Palatino Linotype" panose="02040502050505030304" pitchFamily="18" charset="0"/>
              </a:rPr>
              <a:t>Andeobu</a:t>
            </a:r>
            <a:r>
              <a:rPr lang="en-US" sz="2000" dirty="0">
                <a:latin typeface="Palatino Linotype" panose="02040502050505030304" pitchFamily="18" charset="0"/>
              </a:rPr>
              <a:t> et al., 2023)</a:t>
            </a:r>
          </a:p>
        </p:txBody>
      </p:sp>
      <p:sp>
        <p:nvSpPr>
          <p:cNvPr id="2" name="Slide Number Placeholder 1">
            <a:extLst>
              <a:ext uri="{FF2B5EF4-FFF2-40B4-BE49-F238E27FC236}">
                <a16:creationId xmlns:a16="http://schemas.microsoft.com/office/drawing/2014/main" id="{D48C2F1D-5760-CDDE-04F9-637503614F1A}"/>
              </a:ext>
            </a:extLst>
          </p:cNvPr>
          <p:cNvSpPr>
            <a:spLocks noGrp="1"/>
          </p:cNvSpPr>
          <p:nvPr>
            <p:ph type="sldNum" sz="quarter" idx="12"/>
          </p:nvPr>
        </p:nvSpPr>
        <p:spPr/>
        <p:txBody>
          <a:bodyPr/>
          <a:lstStyle/>
          <a:p>
            <a:r>
              <a:rPr lang="en-US" dirty="0"/>
              <a:t>2</a:t>
            </a:r>
          </a:p>
        </p:txBody>
      </p:sp>
    </p:spTree>
    <p:extLst>
      <p:ext uri="{BB962C8B-B14F-4D97-AF65-F5344CB8AC3E}">
        <p14:creationId xmlns:p14="http://schemas.microsoft.com/office/powerpoint/2010/main" val="21097219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30000"/>
            <a:lum/>
          </a:blip>
          <a:srcRect/>
          <a:stretch>
            <a:fillRect t="-9000" b="-9000"/>
          </a:stretch>
        </a:blip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F40B2E6-8581-AFAB-BFA5-414215C4DE85}"/>
              </a:ext>
            </a:extLst>
          </p:cNvPr>
          <p:cNvSpPr txBox="1"/>
          <p:nvPr/>
        </p:nvSpPr>
        <p:spPr>
          <a:xfrm>
            <a:off x="2413534" y="1480480"/>
            <a:ext cx="7895123" cy="3539430"/>
          </a:xfrm>
          <a:prstGeom prst="rect">
            <a:avLst/>
          </a:prstGeom>
          <a:noFill/>
        </p:spPr>
        <p:txBody>
          <a:bodyPr wrap="square">
            <a:spAutoFit/>
          </a:bodyPr>
          <a:lstStyle/>
          <a:p>
            <a:pPr algn="ctr"/>
            <a:r>
              <a:rPr lang="en-US" sz="3200" b="1" dirty="0">
                <a:latin typeface="Palatino Linotype" panose="02040502050505030304" pitchFamily="18" charset="0"/>
              </a:rPr>
              <a:t>Manufacturer Responsibility</a:t>
            </a:r>
          </a:p>
          <a:p>
            <a:endParaRPr lang="en-US" sz="3200" b="1" dirty="0">
              <a:latin typeface="Palatino Linotype" panose="02040502050505030304" pitchFamily="18" charset="0"/>
            </a:endParaRPr>
          </a:p>
          <a:p>
            <a:r>
              <a:rPr lang="en-US" dirty="0"/>
              <a:t>• </a:t>
            </a:r>
            <a:r>
              <a:rPr lang="en-US" sz="2000" dirty="0">
                <a:latin typeface="Palatino Linotype" panose="02040502050505030304" pitchFamily="18" charset="0"/>
              </a:rPr>
              <a:t>Extended Producer Responsibility (EPR) policies assign manufacturers responsibility for end‑of‑life electronics</a:t>
            </a:r>
          </a:p>
          <a:p>
            <a:r>
              <a:rPr lang="en-US" sz="2000" dirty="0">
                <a:latin typeface="Palatino Linotype" panose="02040502050505030304" pitchFamily="18" charset="0"/>
              </a:rPr>
              <a:t>• EPR programs improve collection, recycling, and eco‑design practices</a:t>
            </a:r>
          </a:p>
          <a:p>
            <a:r>
              <a:rPr lang="en-US" sz="2000" dirty="0">
                <a:latin typeface="Palatino Linotype" panose="02040502050505030304" pitchFamily="18" charset="0"/>
              </a:rPr>
              <a:t>• Manufacturer participation is critical to effective e‑waste management systems</a:t>
            </a:r>
          </a:p>
          <a:p>
            <a:r>
              <a:rPr lang="en-US" sz="2000" dirty="0">
                <a:latin typeface="Palatino Linotype" panose="02040502050505030304" pitchFamily="18" charset="0"/>
              </a:rPr>
              <a:t>• Producer accountability supports sustainable waste reduction</a:t>
            </a:r>
          </a:p>
          <a:p>
            <a:r>
              <a:rPr lang="en-US" sz="2000" dirty="0">
                <a:latin typeface="Palatino Linotype" panose="02040502050505030304" pitchFamily="18" charset="0"/>
              </a:rPr>
              <a:t>(Leclerc &amp; Badami, 2023)</a:t>
            </a:r>
          </a:p>
        </p:txBody>
      </p:sp>
      <p:sp>
        <p:nvSpPr>
          <p:cNvPr id="2" name="Slide Number Placeholder 1">
            <a:extLst>
              <a:ext uri="{FF2B5EF4-FFF2-40B4-BE49-F238E27FC236}">
                <a16:creationId xmlns:a16="http://schemas.microsoft.com/office/drawing/2014/main" id="{929C3965-9A5B-AD26-827E-813FFB48CF44}"/>
              </a:ext>
            </a:extLst>
          </p:cNvPr>
          <p:cNvSpPr>
            <a:spLocks noGrp="1"/>
          </p:cNvSpPr>
          <p:nvPr>
            <p:ph type="sldNum" sz="quarter" idx="12"/>
          </p:nvPr>
        </p:nvSpPr>
        <p:spPr/>
        <p:txBody>
          <a:bodyPr/>
          <a:lstStyle/>
          <a:p>
            <a:r>
              <a:rPr lang="en-US" dirty="0"/>
              <a:t>3</a:t>
            </a:r>
          </a:p>
        </p:txBody>
      </p:sp>
    </p:spTree>
    <p:extLst>
      <p:ext uri="{BB962C8B-B14F-4D97-AF65-F5344CB8AC3E}">
        <p14:creationId xmlns:p14="http://schemas.microsoft.com/office/powerpoint/2010/main" val="22140571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75643A2-4893-90DF-5B3B-3E9FE22E11A7}"/>
              </a:ext>
            </a:extLst>
          </p:cNvPr>
          <p:cNvSpPr txBox="1"/>
          <p:nvPr/>
        </p:nvSpPr>
        <p:spPr>
          <a:xfrm>
            <a:off x="2943225" y="1659285"/>
            <a:ext cx="7153676" cy="3539430"/>
          </a:xfrm>
          <a:prstGeom prst="rect">
            <a:avLst/>
          </a:prstGeom>
          <a:blipFill>
            <a:blip r:embed="rId3">
              <a:alphaModFix amt="30000"/>
            </a:blip>
            <a:stretch>
              <a:fillRect/>
            </a:stretch>
          </a:blipFill>
        </p:spPr>
        <p:txBody>
          <a:bodyPr wrap="square">
            <a:spAutoFit/>
          </a:bodyPr>
          <a:lstStyle/>
          <a:p>
            <a:r>
              <a:rPr lang="en-US" sz="3200" b="1" dirty="0">
                <a:latin typeface="Palatino Linotype" panose="02040502050505030304" pitchFamily="18" charset="0"/>
              </a:rPr>
              <a:t>Consumer Role in Reducing E‑Waste</a:t>
            </a:r>
          </a:p>
          <a:p>
            <a:endParaRPr lang="en-US" sz="3200" b="1" dirty="0">
              <a:latin typeface="Palatino Linotype" panose="02040502050505030304" pitchFamily="18" charset="0"/>
            </a:endParaRPr>
          </a:p>
          <a:p>
            <a:r>
              <a:rPr lang="en-US" sz="2000" dirty="0">
                <a:latin typeface="Palatino Linotype" panose="02040502050505030304" pitchFamily="18" charset="0"/>
              </a:rPr>
              <a:t>• Consumer awareness influences recycling and disposal behavior</a:t>
            </a:r>
          </a:p>
          <a:p>
            <a:r>
              <a:rPr lang="en-US" sz="2000" dirty="0">
                <a:latin typeface="Palatino Linotype" panose="02040502050505030304" pitchFamily="18" charset="0"/>
              </a:rPr>
              <a:t>• Proper e‑waste handling reduces environmental and health risks</a:t>
            </a:r>
          </a:p>
          <a:p>
            <a:r>
              <a:rPr lang="en-US" sz="2000" dirty="0">
                <a:latin typeface="Palatino Linotype" panose="02040502050505030304" pitchFamily="18" charset="0"/>
              </a:rPr>
              <a:t>• Reuse, repair, and responsible purchasing extend product life</a:t>
            </a:r>
          </a:p>
          <a:p>
            <a:r>
              <a:rPr lang="en-US" sz="2000" dirty="0">
                <a:latin typeface="Palatino Linotype" panose="02040502050505030304" pitchFamily="18" charset="0"/>
              </a:rPr>
              <a:t>• Informed consumers contribute to circular economy goals</a:t>
            </a:r>
          </a:p>
          <a:p>
            <a:r>
              <a:rPr lang="en-US" sz="2000" dirty="0">
                <a:latin typeface="Palatino Linotype" panose="02040502050505030304" pitchFamily="18" charset="0"/>
              </a:rPr>
              <a:t>(Islam et al., 2021)</a:t>
            </a:r>
          </a:p>
        </p:txBody>
      </p:sp>
      <p:sp>
        <p:nvSpPr>
          <p:cNvPr id="2" name="Slide Number Placeholder 1">
            <a:extLst>
              <a:ext uri="{FF2B5EF4-FFF2-40B4-BE49-F238E27FC236}">
                <a16:creationId xmlns:a16="http://schemas.microsoft.com/office/drawing/2014/main" id="{ADA42278-0C13-E2E7-F4AD-936C438107EF}"/>
              </a:ext>
            </a:extLst>
          </p:cNvPr>
          <p:cNvSpPr>
            <a:spLocks noGrp="1"/>
          </p:cNvSpPr>
          <p:nvPr>
            <p:ph type="sldNum" sz="quarter" idx="12"/>
          </p:nvPr>
        </p:nvSpPr>
        <p:spPr/>
        <p:txBody>
          <a:bodyPr/>
          <a:lstStyle/>
          <a:p>
            <a:r>
              <a:rPr lang="en-US" dirty="0"/>
              <a:t>4</a:t>
            </a:r>
          </a:p>
        </p:txBody>
      </p:sp>
    </p:spTree>
    <p:extLst>
      <p:ext uri="{BB962C8B-B14F-4D97-AF65-F5344CB8AC3E}">
        <p14:creationId xmlns:p14="http://schemas.microsoft.com/office/powerpoint/2010/main" val="14010262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30000"/>
            <a:lum/>
          </a:blip>
          <a:srcRect/>
          <a:stretch>
            <a:fillRect t="-1000" b="-1000"/>
          </a:stretch>
        </a:blip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5850532-171D-9548-816D-A273AB67C26F}"/>
              </a:ext>
            </a:extLst>
          </p:cNvPr>
          <p:cNvSpPr txBox="1"/>
          <p:nvPr/>
        </p:nvSpPr>
        <p:spPr>
          <a:xfrm>
            <a:off x="3000676" y="1253221"/>
            <a:ext cx="6663089" cy="3847207"/>
          </a:xfrm>
          <a:prstGeom prst="rect">
            <a:avLst/>
          </a:prstGeom>
          <a:noFill/>
        </p:spPr>
        <p:txBody>
          <a:bodyPr wrap="square">
            <a:spAutoFit/>
          </a:bodyPr>
          <a:lstStyle/>
          <a:p>
            <a:r>
              <a:rPr lang="en-US" sz="3200" b="1" dirty="0">
                <a:latin typeface="Palatino Linotype" panose="02040502050505030304" pitchFamily="18" charset="0"/>
              </a:rPr>
              <a:t>Influencing Sustainable Change</a:t>
            </a:r>
          </a:p>
          <a:p>
            <a:endParaRPr lang="en-US" sz="3200" b="1" dirty="0">
              <a:latin typeface="Palatino Linotype" panose="02040502050505030304" pitchFamily="18" charset="0"/>
            </a:endParaRPr>
          </a:p>
          <a:p>
            <a:r>
              <a:rPr lang="en-US" sz="2000" dirty="0">
                <a:latin typeface="Palatino Linotype" panose="02040502050505030304" pitchFamily="18" charset="0"/>
              </a:rPr>
              <a:t>• Consumers can pressure companies to adopt sustainable production practices</a:t>
            </a:r>
          </a:p>
          <a:p>
            <a:r>
              <a:rPr lang="en-US" sz="2000" dirty="0">
                <a:latin typeface="Palatino Linotype" panose="02040502050505030304" pitchFamily="18" charset="0"/>
              </a:rPr>
              <a:t>• Policy, education, and corporate responsibility drive e‑waste solutions</a:t>
            </a:r>
          </a:p>
          <a:p>
            <a:r>
              <a:rPr lang="en-US" sz="2000" dirty="0">
                <a:latin typeface="Palatino Linotype" panose="02040502050505030304" pitchFamily="18" charset="0"/>
              </a:rPr>
              <a:t>• Sustainable management promotes environmental justice</a:t>
            </a:r>
          </a:p>
          <a:p>
            <a:r>
              <a:rPr lang="en-US" sz="2000" dirty="0">
                <a:latin typeface="Palatino Linotype" panose="02040502050505030304" pitchFamily="18" charset="0"/>
              </a:rPr>
              <a:t>• Collaboration among stakeholders is essential for long‑term impact</a:t>
            </a:r>
          </a:p>
          <a:p>
            <a:r>
              <a:rPr lang="en-US" sz="2000" dirty="0">
                <a:latin typeface="Palatino Linotype" panose="02040502050505030304" pitchFamily="18" charset="0"/>
              </a:rPr>
              <a:t>(</a:t>
            </a:r>
            <a:r>
              <a:rPr lang="en-US" sz="2000" dirty="0" err="1">
                <a:latin typeface="Palatino Linotype" panose="02040502050505030304" pitchFamily="18" charset="0"/>
              </a:rPr>
              <a:t>Ogunseitan</a:t>
            </a:r>
            <a:r>
              <a:rPr lang="en-US" sz="2000" dirty="0">
                <a:latin typeface="Palatino Linotype" panose="02040502050505030304" pitchFamily="18" charset="0"/>
              </a:rPr>
              <a:t>, 2023)</a:t>
            </a:r>
          </a:p>
        </p:txBody>
      </p:sp>
      <p:sp>
        <p:nvSpPr>
          <p:cNvPr id="2" name="Slide Number Placeholder 1">
            <a:extLst>
              <a:ext uri="{FF2B5EF4-FFF2-40B4-BE49-F238E27FC236}">
                <a16:creationId xmlns:a16="http://schemas.microsoft.com/office/drawing/2014/main" id="{E20E330C-EB33-12DB-E01F-9AB543338162}"/>
              </a:ext>
            </a:extLst>
          </p:cNvPr>
          <p:cNvSpPr>
            <a:spLocks noGrp="1"/>
          </p:cNvSpPr>
          <p:nvPr>
            <p:ph type="sldNum" sz="quarter" idx="12"/>
          </p:nvPr>
        </p:nvSpPr>
        <p:spPr/>
        <p:txBody>
          <a:bodyPr/>
          <a:lstStyle/>
          <a:p>
            <a:r>
              <a:rPr lang="en-US" dirty="0"/>
              <a:t>5</a:t>
            </a:r>
          </a:p>
        </p:txBody>
      </p:sp>
    </p:spTree>
    <p:extLst>
      <p:ext uri="{BB962C8B-B14F-4D97-AF65-F5344CB8AC3E}">
        <p14:creationId xmlns:p14="http://schemas.microsoft.com/office/powerpoint/2010/main" val="23180173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099DDE2-1A3B-1865-A7BC-08676F85647E}"/>
              </a:ext>
            </a:extLst>
          </p:cNvPr>
          <p:cNvSpPr txBox="1"/>
          <p:nvPr/>
        </p:nvSpPr>
        <p:spPr>
          <a:xfrm>
            <a:off x="1260909" y="251159"/>
            <a:ext cx="10125777" cy="6678751"/>
          </a:xfrm>
          <a:prstGeom prst="rect">
            <a:avLst/>
          </a:prstGeom>
          <a:noFill/>
        </p:spPr>
        <p:txBody>
          <a:bodyPr wrap="square">
            <a:spAutoFit/>
          </a:bodyPr>
          <a:lstStyle/>
          <a:p>
            <a:r>
              <a:rPr lang="en-US" sz="3200" b="1" dirty="0">
                <a:latin typeface="Palatino Linotype" panose="02040502050505030304" pitchFamily="18" charset="0"/>
              </a:rPr>
              <a:t>References: </a:t>
            </a:r>
          </a:p>
          <a:p>
            <a:endParaRPr lang="en-US" dirty="0">
              <a:latin typeface="Palatino Linotype" panose="02040502050505030304" pitchFamily="18" charset="0"/>
            </a:endParaRPr>
          </a:p>
          <a:p>
            <a:r>
              <a:rPr lang="en-US" dirty="0">
                <a:latin typeface="Palatino Linotype" panose="02040502050505030304" pitchFamily="18" charset="0"/>
              </a:rPr>
              <a:t>Adobe. (n.d.). Adobe Stock. </a:t>
            </a:r>
            <a:r>
              <a:rPr lang="en-US" dirty="0">
                <a:latin typeface="Palatino Linotype" panose="02040502050505030304" pitchFamily="18" charset="0"/>
                <a:hlinkClick r:id="rId2"/>
              </a:rPr>
              <a:t>https://stock.adobe.com/</a:t>
            </a:r>
            <a:endParaRPr lang="en-US" dirty="0">
              <a:latin typeface="Palatino Linotype" panose="02040502050505030304" pitchFamily="18" charset="0"/>
            </a:endParaRPr>
          </a:p>
          <a:p>
            <a:br>
              <a:rPr lang="en-US" dirty="0">
                <a:latin typeface="Palatino Linotype" panose="02040502050505030304" pitchFamily="18" charset="0"/>
              </a:rPr>
            </a:br>
            <a:r>
              <a:rPr lang="en-US" dirty="0" err="1">
                <a:latin typeface="Palatino Linotype" panose="02040502050505030304" pitchFamily="18" charset="0"/>
              </a:rPr>
              <a:t>Andeobu</a:t>
            </a:r>
            <a:r>
              <a:rPr lang="en-US" dirty="0">
                <a:latin typeface="Palatino Linotype" panose="02040502050505030304" pitchFamily="18" charset="0"/>
              </a:rPr>
              <a:t>, L., Wibowo, S., &amp; Grandhi, S. (2023). Environmental and health consequences of e‑waste dumping and recycling carried out by selected countries in Asia and Latin America. Sustainability, 15(13), Article 10405. </a:t>
            </a:r>
            <a:r>
              <a:rPr lang="en-US" dirty="0">
                <a:latin typeface="Palatino Linotype" panose="02040502050505030304" pitchFamily="18" charset="0"/>
                <a:hlinkClick r:id="rId3"/>
              </a:rPr>
              <a:t>https://doi.org/10.3390/su151310405</a:t>
            </a:r>
            <a:r>
              <a:rPr lang="en-US" dirty="0">
                <a:latin typeface="Palatino Linotype" panose="02040502050505030304" pitchFamily="18" charset="0"/>
              </a:rPr>
              <a:t> </a:t>
            </a:r>
          </a:p>
          <a:p>
            <a:endParaRPr lang="en-US" dirty="0">
              <a:latin typeface="Palatino Linotype" panose="02040502050505030304" pitchFamily="18" charset="0"/>
            </a:endParaRPr>
          </a:p>
          <a:p>
            <a:r>
              <a:rPr lang="en-US" dirty="0">
                <a:latin typeface="Palatino Linotype" panose="02040502050505030304" pitchFamily="18" charset="0"/>
              </a:rPr>
              <a:t>Islam, M. T., Huda, N., </a:t>
            </a:r>
            <a:r>
              <a:rPr lang="en-US" dirty="0" err="1">
                <a:latin typeface="Palatino Linotype" panose="02040502050505030304" pitchFamily="18" charset="0"/>
              </a:rPr>
              <a:t>Sahajwalla</a:t>
            </a:r>
            <a:r>
              <a:rPr lang="en-US" dirty="0">
                <a:latin typeface="Palatino Linotype" panose="02040502050505030304" pitchFamily="18" charset="0"/>
              </a:rPr>
              <a:t>, V., </a:t>
            </a:r>
            <a:r>
              <a:rPr lang="en-US" dirty="0" err="1">
                <a:latin typeface="Palatino Linotype" panose="02040502050505030304" pitchFamily="18" charset="0"/>
              </a:rPr>
              <a:t>Baumber</a:t>
            </a:r>
            <a:r>
              <a:rPr lang="en-US" dirty="0">
                <a:latin typeface="Palatino Linotype" panose="02040502050505030304" pitchFamily="18" charset="0"/>
              </a:rPr>
              <a:t>, A., Shumon, R., &amp; Zaman, A. (2021). A global review of consumer behavior towards e‑waste and implications for the circular economy. Journal of Cleaner Production, 316, 128297. </a:t>
            </a:r>
            <a:r>
              <a:rPr lang="en-US" dirty="0">
                <a:latin typeface="Palatino Linotype" panose="02040502050505030304" pitchFamily="18" charset="0"/>
                <a:hlinkClick r:id="rId4"/>
              </a:rPr>
              <a:t>https://doi.org/10.1016/j.jclepro.2021.128297</a:t>
            </a:r>
            <a:r>
              <a:rPr lang="en-US" dirty="0">
                <a:latin typeface="Palatino Linotype" panose="02040502050505030304" pitchFamily="18" charset="0"/>
              </a:rPr>
              <a:t> </a:t>
            </a:r>
          </a:p>
          <a:p>
            <a:endParaRPr lang="en-US" dirty="0">
              <a:latin typeface="Palatino Linotype" panose="02040502050505030304" pitchFamily="18" charset="0"/>
            </a:endParaRPr>
          </a:p>
          <a:p>
            <a:r>
              <a:rPr lang="en-US" dirty="0">
                <a:latin typeface="Palatino Linotype" panose="02040502050505030304" pitchFamily="18" charset="0"/>
              </a:rPr>
              <a:t>Leclerc, S. H., &amp; Badami, M. G. (2023). Extended producer responsibility: An empirical investigation into municipalities’ contributions to and perspectives on e‑waste management. Environmental Policy and Governance, 33(4), 356–371. </a:t>
            </a:r>
            <a:r>
              <a:rPr lang="en-US" dirty="0">
                <a:latin typeface="Palatino Linotype" panose="02040502050505030304" pitchFamily="18" charset="0"/>
                <a:hlinkClick r:id="rId5"/>
              </a:rPr>
              <a:t>https://doi.org/10.1002/eet.2059</a:t>
            </a:r>
            <a:r>
              <a:rPr lang="en-US" dirty="0">
                <a:latin typeface="Palatino Linotype" panose="02040502050505030304" pitchFamily="18" charset="0"/>
              </a:rPr>
              <a:t> </a:t>
            </a:r>
          </a:p>
          <a:p>
            <a:endParaRPr lang="en-US" dirty="0">
              <a:latin typeface="Palatino Linotype" panose="02040502050505030304" pitchFamily="18" charset="0"/>
            </a:endParaRPr>
          </a:p>
          <a:p>
            <a:r>
              <a:rPr lang="en-US" dirty="0" err="1">
                <a:latin typeface="Palatino Linotype" panose="02040502050505030304" pitchFamily="18" charset="0"/>
              </a:rPr>
              <a:t>Ogunseitan</a:t>
            </a:r>
            <a:r>
              <a:rPr lang="en-US" dirty="0">
                <a:latin typeface="Palatino Linotype" panose="02040502050505030304" pitchFamily="18" charset="0"/>
              </a:rPr>
              <a:t>, O. A. (2023). The environmental justice agenda for e‑waste management. Environment: Science and Policy for Sustainable Development, 65(2), 15–25. </a:t>
            </a:r>
            <a:r>
              <a:rPr lang="en-US" dirty="0">
                <a:latin typeface="Palatino Linotype" panose="02040502050505030304" pitchFamily="18" charset="0"/>
                <a:hlinkClick r:id="rId6"/>
              </a:rPr>
              <a:t>https://doi.org/10.1080/00139157.2023.2167457</a:t>
            </a:r>
            <a:r>
              <a:rPr lang="en-US" dirty="0">
                <a:latin typeface="Palatino Linotype" panose="02040502050505030304" pitchFamily="18" charset="0"/>
              </a:rPr>
              <a:t> </a:t>
            </a:r>
          </a:p>
          <a:p>
            <a:endParaRPr lang="en-US" dirty="0">
              <a:latin typeface="Palatino Linotype" panose="02040502050505030304" pitchFamily="18" charset="0"/>
            </a:endParaRPr>
          </a:p>
          <a:p>
            <a:r>
              <a:rPr lang="en-US" dirty="0">
                <a:latin typeface="Palatino Linotype" panose="02040502050505030304" pitchFamily="18" charset="0"/>
              </a:rPr>
              <a:t>Widmer, R., Oswald‑Krapf, H., Sinha‑</a:t>
            </a:r>
            <a:r>
              <a:rPr lang="en-US" dirty="0" err="1">
                <a:latin typeface="Palatino Linotype" panose="02040502050505030304" pitchFamily="18" charset="0"/>
              </a:rPr>
              <a:t>Khetriwal</a:t>
            </a:r>
            <a:r>
              <a:rPr lang="en-US" dirty="0">
                <a:latin typeface="Palatino Linotype" panose="02040502050505030304" pitchFamily="18" charset="0"/>
              </a:rPr>
              <a:t>, D., </a:t>
            </a:r>
            <a:r>
              <a:rPr lang="en-US" dirty="0" err="1">
                <a:latin typeface="Palatino Linotype" panose="02040502050505030304" pitchFamily="18" charset="0"/>
              </a:rPr>
              <a:t>Schnellmann</a:t>
            </a:r>
            <a:r>
              <a:rPr lang="en-US" dirty="0">
                <a:latin typeface="Palatino Linotype" panose="02040502050505030304" pitchFamily="18" charset="0"/>
              </a:rPr>
              <a:t>, M., &amp; </a:t>
            </a:r>
            <a:r>
              <a:rPr lang="en-US" dirty="0" err="1">
                <a:latin typeface="Palatino Linotype" panose="02040502050505030304" pitchFamily="18" charset="0"/>
              </a:rPr>
              <a:t>Böni</a:t>
            </a:r>
            <a:r>
              <a:rPr lang="en-US" dirty="0">
                <a:latin typeface="Palatino Linotype" panose="02040502050505030304" pitchFamily="18" charset="0"/>
              </a:rPr>
              <a:t>, H. (2005). Global perspectives on e‑waste. Environmental Impact Assessment Review, 25(5), 436–458. </a:t>
            </a:r>
            <a:r>
              <a:rPr lang="en-US" dirty="0">
                <a:latin typeface="Palatino Linotype" panose="02040502050505030304" pitchFamily="18" charset="0"/>
                <a:hlinkClick r:id="rId7"/>
              </a:rPr>
              <a:t>https://doi.org/10.1016/j.eiar.2005.04.001</a:t>
            </a:r>
            <a:r>
              <a:rPr lang="en-US" dirty="0">
                <a:latin typeface="Palatino Linotype" panose="02040502050505030304" pitchFamily="18" charset="0"/>
              </a:rPr>
              <a:t>   </a:t>
            </a:r>
          </a:p>
        </p:txBody>
      </p:sp>
      <p:sp>
        <p:nvSpPr>
          <p:cNvPr id="2" name="Slide Number Placeholder 1">
            <a:extLst>
              <a:ext uri="{FF2B5EF4-FFF2-40B4-BE49-F238E27FC236}">
                <a16:creationId xmlns:a16="http://schemas.microsoft.com/office/drawing/2014/main" id="{77BA7268-3393-FA42-8911-85FF449C6539}"/>
              </a:ext>
            </a:extLst>
          </p:cNvPr>
          <p:cNvSpPr>
            <a:spLocks noGrp="1"/>
          </p:cNvSpPr>
          <p:nvPr>
            <p:ph type="sldNum" sz="quarter" idx="12"/>
          </p:nvPr>
        </p:nvSpPr>
        <p:spPr/>
        <p:txBody>
          <a:bodyPr/>
          <a:lstStyle/>
          <a:p>
            <a:r>
              <a:rPr lang="en-US" dirty="0"/>
              <a:t>6</a:t>
            </a:r>
          </a:p>
        </p:txBody>
      </p:sp>
    </p:spTree>
    <p:extLst>
      <p:ext uri="{BB962C8B-B14F-4D97-AF65-F5344CB8AC3E}">
        <p14:creationId xmlns:p14="http://schemas.microsoft.com/office/powerpoint/2010/main" val="2287795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46</TotalTime>
  <Words>1045</Words>
  <Application>Microsoft Office PowerPoint</Application>
  <PresentationFormat>Widescreen</PresentationFormat>
  <Paragraphs>80</Paragraphs>
  <Slides>7</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Aptos</vt:lpstr>
      <vt:lpstr>Aptos Display</vt:lpstr>
      <vt:lpstr>Arial</vt:lpstr>
      <vt:lpstr>Palatino Linotype</vt:lpstr>
      <vt:lpstr>Office Theme</vt:lpstr>
      <vt:lpstr>   The Growing E-Waste Crisis Siobhan Doherty CIS311: Technical Writing Post University Computer Information Systems Professors Franklin Orellana and Louis Unger April 5, 2026 </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Doherty, Siobhan</dc:creator>
  <cp:lastModifiedBy>Doherty, Siobhan</cp:lastModifiedBy>
  <cp:revision>1</cp:revision>
  <dcterms:created xsi:type="dcterms:W3CDTF">2026-04-05T16:04:43Z</dcterms:created>
  <dcterms:modified xsi:type="dcterms:W3CDTF">2026-04-05T16:52:33Z</dcterms:modified>
</cp:coreProperties>
</file>